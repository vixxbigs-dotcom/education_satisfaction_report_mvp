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rawings/drawing1.xml" ContentType="application/vnd.openxmlformats-officedocument.drawingml.chartshapes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drawings/drawing2.xml" ContentType="application/vnd.openxmlformats-officedocument.drawingml.chartshapes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drawings/drawing3.xml" ContentType="application/vnd.openxmlformats-officedocument.drawingml.chartshapes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drawings/drawing4.xml" ContentType="application/vnd.openxmlformats-officedocument.drawingml.chartshapes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drawings/drawing5.xml" ContentType="application/vnd.openxmlformats-officedocument.drawingml.chartshapes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drawings/drawing6.xml" ContentType="application/vnd.openxmlformats-officedocument.drawingml.chartshapes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drawings/drawing7.xml" ContentType="application/vnd.openxmlformats-officedocument.drawingml.chartshap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9" r:id="rId4"/>
    <p:sldId id="260" r:id="rId5"/>
    <p:sldId id="271" r:id="rId6"/>
    <p:sldId id="272" r:id="rId7"/>
    <p:sldId id="274" r:id="rId8"/>
    <p:sldId id="275" r:id="rId9"/>
    <p:sldId id="306" r:id="rId10"/>
    <p:sldId id="307" r:id="rId11"/>
    <p:sldId id="321" r:id="rId12"/>
    <p:sldId id="310" r:id="rId13"/>
    <p:sldId id="311" r:id="rId14"/>
    <p:sldId id="309" r:id="rId15"/>
    <p:sldId id="315" r:id="rId16"/>
    <p:sldId id="322" r:id="rId17"/>
    <p:sldId id="323" r:id="rId18"/>
    <p:sldId id="318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chartUserShapes" Target="../drawings/drawing1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chartUserShapes" Target="../drawings/drawing2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chartUserShapes" Target="../drawings/drawing3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chartUserShapes" Target="../drawings/drawing4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chartUserShapes" Target="../drawings/drawing5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chartUserShapes" Target="../drawings/drawing6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chartUserShapes" Target="../drawings/drawing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3.9135564179514956E-2"/>
          <c:y val="1.7196936694171227E-2"/>
          <c:w val="0.94171557627170233"/>
          <c:h val="0.8102111828186261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결과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78E-4278-95AF-FEC3F80831DF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78E-4278-95AF-FEC3F80831DF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78E-4278-95AF-FEC3F80831DF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B78E-4278-95AF-FEC3F80831DF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B78E-4278-95AF-FEC3F80831DF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B78E-4278-95AF-FEC3F80831DF}"/>
              </c:ext>
            </c:extLst>
          </c:dPt>
          <c:dLbls>
            <c:dLbl>
              <c:idx val="4"/>
              <c:layout>
                <c:manualLayout>
                  <c:x val="-1.0144560288309393E-16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78E-4278-95AF-FEC3F80831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/>
                    </a:solidFill>
                    <a:latin typeface="나눔스퀘어_ac" panose="020B0600000101010101" pitchFamily="50" charset="-127"/>
                    <a:ea typeface="나눔스퀘어_ac" panose="020B0600000101010101" pitchFamily="50" charset="-127"/>
                    <a:cs typeface="+mn-cs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전반적 만족도</c:v>
                </c:pt>
                <c:pt idx="1">
                  <c:v>추천도</c:v>
                </c:pt>
                <c:pt idx="2">
                  <c:v>교육일정</c:v>
                </c:pt>
                <c:pt idx="3">
                  <c:v>교육난이도</c:v>
                </c:pt>
                <c:pt idx="4">
                  <c:v>설상훈 교수
만족도 1-1</c:v>
                </c:pt>
                <c:pt idx="5">
                  <c:v>설상훈 교수
만족도 1-2</c:v>
                </c:pt>
                <c:pt idx="6">
                  <c:v>교육운영</c:v>
                </c:pt>
              </c:strCache>
            </c:strRef>
          </c:cat>
          <c:val>
            <c:numRef>
              <c:f>Sheet1!$B$2:$B$8</c:f>
              <c:numCache>
                <c:formatCode>0.0</c:formatCode>
                <c:ptCount val="7"/>
                <c:pt idx="0">
                  <c:v>4.9000000000000004</c:v>
                </c:pt>
                <c:pt idx="1">
                  <c:v>4.8</c:v>
                </c:pt>
                <c:pt idx="2">
                  <c:v>4.9000000000000004</c:v>
                </c:pt>
                <c:pt idx="3">
                  <c:v>4.8</c:v>
                </c:pt>
                <c:pt idx="4">
                  <c:v>4.9000000000000004</c:v>
                </c:pt>
                <c:pt idx="5">
                  <c:v>4.9000000000000004</c:v>
                </c:pt>
                <c:pt idx="6">
                  <c:v>4.9000000000000004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B78E-4278-95AF-FEC3F80831D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69"/>
        <c:overlap val="-27"/>
        <c:axId val="1538380768"/>
        <c:axId val="1538379136"/>
      </c:barChart>
      <c:catAx>
        <c:axId val="1538380768"/>
        <c:scaling>
          <c:orientation val="minMax"/>
        </c:scaling>
        <c:delete val="0"/>
        <c:axPos val="b"/>
        <c:numFmt formatCode="General" sourceLinked="1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1538379136"/>
        <c:crosses val="autoZero"/>
        <c:auto val="0"/>
        <c:lblAlgn val="ctr"/>
        <c:lblOffset val="100"/>
        <c:noMultiLvlLbl val="0"/>
      </c:catAx>
      <c:valAx>
        <c:axId val="1538379136"/>
        <c:scaling>
          <c:orientation val="minMax"/>
          <c:max val="6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.0_);[Red]\(#,##0.0\)" sourceLinked="0"/>
        <c:majorTickMark val="in"/>
        <c:minorTickMark val="none"/>
        <c:tickLblPos val="nextTo"/>
        <c:spPr>
          <a:noFill/>
          <a:ln>
            <a:solidFill>
              <a:schemeClr val="accent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15383807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8501525028669658E-2"/>
          <c:y val="5.3789939707716422E-2"/>
          <c:w val="0.89336589566929137"/>
          <c:h val="0.80319043856183314"/>
        </c:manualLayout>
      </c:layout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05E-450E-9A54-0D58053D9E5A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05E-450E-9A54-0D58053D9E5A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05E-450E-9A54-0D58053D9E5A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05E-450E-9A54-0D58053D9E5A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05E-450E-9A54-0D58053D9E5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나눔스퀘어_ac Bold" panose="020B0600000101010101" pitchFamily="50" charset="-127"/>
                    <a:ea typeface="나눔스퀘어_ac Bold" panose="020B0600000101010101" pitchFamily="50" charset="-127"/>
                    <a:cs typeface="+mn-cs"/>
                  </a:defRPr>
                </a:pPr>
                <a:endParaRPr lang="ko-K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매우 그렇다</c:v>
                </c:pt>
                <c:pt idx="1">
                  <c:v>그렇다</c:v>
                </c:pt>
                <c:pt idx="2">
                  <c:v>보통이다</c:v>
                </c:pt>
                <c:pt idx="3">
                  <c:v>그렇지 않다</c:v>
                </c:pt>
                <c:pt idx="4">
                  <c:v>매우 그렇지 않다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305E-450E-9A54-0D58053D9E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537926816"/>
        <c:axId val="1537934432"/>
      </c:barChart>
      <c:catAx>
        <c:axId val="15379268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537934432"/>
        <c:crosses val="autoZero"/>
        <c:auto val="1"/>
        <c:lblAlgn val="ctr"/>
        <c:lblOffset val="100"/>
        <c:noMultiLvlLbl val="0"/>
      </c:catAx>
      <c:valAx>
        <c:axId val="153793443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bg2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15379268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  <c:userShapes r:id="rId4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8501525028669658E-2"/>
          <c:y val="5.3789939707716422E-2"/>
          <c:w val="0.89336589566929137"/>
          <c:h val="0.80319043856183314"/>
        </c:manualLayout>
      </c:layout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46E-492B-AA4E-8B9A9073D5B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46E-492B-AA4E-8B9A9073D5BE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46E-492B-AA4E-8B9A9073D5BE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46E-492B-AA4E-8B9A9073D5BE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446E-492B-AA4E-8B9A9073D5BE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나눔스퀘어_ac Bold" panose="020B0600000101010101" pitchFamily="50" charset="-127"/>
                    <a:ea typeface="나눔스퀘어_ac Bold" panose="020B0600000101010101" pitchFamily="50" charset="-127"/>
                    <a:cs typeface="+mn-cs"/>
                  </a:defRPr>
                </a:pPr>
                <a:endParaRPr lang="ko-K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매우 그렇다</c:v>
                </c:pt>
                <c:pt idx="1">
                  <c:v>그렇다</c:v>
                </c:pt>
                <c:pt idx="2">
                  <c:v>보통이다</c:v>
                </c:pt>
                <c:pt idx="3">
                  <c:v>그렇지 않다</c:v>
                </c:pt>
                <c:pt idx="4">
                  <c:v>매우 그렇지 않다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</c:v>
                </c:pt>
                <c:pt idx="4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46E-492B-AA4E-8B9A9073D5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537926816"/>
        <c:axId val="1537934432"/>
      </c:barChart>
      <c:catAx>
        <c:axId val="15379268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537934432"/>
        <c:crosses val="autoZero"/>
        <c:auto val="1"/>
        <c:lblAlgn val="ctr"/>
        <c:lblOffset val="100"/>
        <c:noMultiLvlLbl val="0"/>
      </c:catAx>
      <c:valAx>
        <c:axId val="153793443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bg2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15379268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  <c:userShapes r:id="rId4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8501525028669658E-2"/>
          <c:y val="5.3789939707716422E-2"/>
          <c:w val="0.89336589566929137"/>
          <c:h val="0.80319043856183314"/>
        </c:manualLayout>
      </c:layout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3BB-4C9C-A06B-503915A7ED10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3BB-4C9C-A06B-503915A7ED10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3BB-4C9C-A06B-503915A7ED10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3BB-4C9C-A06B-503915A7ED10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3BB-4C9C-A06B-503915A7ED1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나눔스퀘어_ac Bold" panose="020B0600000101010101" pitchFamily="50" charset="-127"/>
                    <a:ea typeface="나눔스퀘어_ac Bold" panose="020B0600000101010101" pitchFamily="50" charset="-127"/>
                    <a:cs typeface="+mn-cs"/>
                  </a:defRPr>
                </a:pPr>
                <a:endParaRPr lang="ko-K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매우 그렇다</c:v>
                </c:pt>
                <c:pt idx="1">
                  <c:v>그렇다</c:v>
                </c:pt>
                <c:pt idx="2">
                  <c:v>보통이다</c:v>
                </c:pt>
                <c:pt idx="3">
                  <c:v>그렇지 않다</c:v>
                </c:pt>
                <c:pt idx="4">
                  <c:v>매우 그렇지 않다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33BB-4C9C-A06B-503915A7ED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537926816"/>
        <c:axId val="1537934432"/>
      </c:barChart>
      <c:catAx>
        <c:axId val="15379268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537934432"/>
        <c:crosses val="autoZero"/>
        <c:auto val="1"/>
        <c:lblAlgn val="ctr"/>
        <c:lblOffset val="100"/>
        <c:noMultiLvlLbl val="0"/>
      </c:catAx>
      <c:valAx>
        <c:axId val="153793443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bg2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15379268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  <c:userShapes r:id="rId4"/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8501525028669658E-2"/>
          <c:y val="5.3789939707716422E-2"/>
          <c:w val="0.89336589566929137"/>
          <c:h val="0.80319043856183314"/>
        </c:manualLayout>
      </c:layout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5566-48EC-A4C1-6629900E2EB5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566-48EC-A4C1-6629900E2EB5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5566-48EC-A4C1-6629900E2EB5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5566-48EC-A4C1-6629900E2EB5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5566-48EC-A4C1-6629900E2EB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나눔스퀘어_ac Bold" panose="020B0600000101010101" pitchFamily="50" charset="-127"/>
                    <a:ea typeface="나눔스퀘어_ac Bold" panose="020B0600000101010101" pitchFamily="50" charset="-127"/>
                    <a:cs typeface="+mn-cs"/>
                  </a:defRPr>
                </a:pPr>
                <a:endParaRPr lang="ko-K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매우 그렇다</c:v>
                </c:pt>
                <c:pt idx="1">
                  <c:v>그렇다</c:v>
                </c:pt>
                <c:pt idx="2">
                  <c:v>보통이다</c:v>
                </c:pt>
                <c:pt idx="3">
                  <c:v>그렇지 않다</c:v>
                </c:pt>
                <c:pt idx="4">
                  <c:v>매우 그렇지 않다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</c:v>
                </c:pt>
                <c:pt idx="4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5566-48EC-A4C1-6629900E2E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537926816"/>
        <c:axId val="1537934432"/>
      </c:barChart>
      <c:catAx>
        <c:axId val="15379268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537934432"/>
        <c:crosses val="autoZero"/>
        <c:auto val="1"/>
        <c:lblAlgn val="ctr"/>
        <c:lblOffset val="100"/>
        <c:noMultiLvlLbl val="0"/>
      </c:catAx>
      <c:valAx>
        <c:axId val="153793443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bg2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15379268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  <c:userShapes r:id="rId4"/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8501525028669658E-2"/>
          <c:y val="5.3789939707716422E-2"/>
          <c:w val="0.89336589566929137"/>
          <c:h val="0.80319043856183314"/>
        </c:manualLayout>
      </c:layout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FF7-4E4C-B71E-47B822710A96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FF7-4E4C-B71E-47B822710A96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FF7-4E4C-B71E-47B822710A96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BFF7-4E4C-B71E-47B822710A96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BFF7-4E4C-B71E-47B822710A9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나눔스퀘어_ac Bold" panose="020B0600000101010101" pitchFamily="50" charset="-127"/>
                    <a:ea typeface="나눔스퀘어_ac Bold" panose="020B0600000101010101" pitchFamily="50" charset="-127"/>
                    <a:cs typeface="+mn-cs"/>
                  </a:defRPr>
                </a:pPr>
                <a:endParaRPr lang="ko-K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매우 그렇다</c:v>
                </c:pt>
                <c:pt idx="1">
                  <c:v>그렇다</c:v>
                </c:pt>
                <c:pt idx="2">
                  <c:v>보통이다</c:v>
                </c:pt>
                <c:pt idx="3">
                  <c:v>그렇지 않다</c:v>
                </c:pt>
                <c:pt idx="4">
                  <c:v>매우 그렇지 않다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BFF7-4E4C-B71E-47B822710A9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537926816"/>
        <c:axId val="1537934432"/>
      </c:barChart>
      <c:catAx>
        <c:axId val="15379268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537934432"/>
        <c:crosses val="autoZero"/>
        <c:auto val="1"/>
        <c:lblAlgn val="ctr"/>
        <c:lblOffset val="100"/>
        <c:noMultiLvlLbl val="0"/>
      </c:catAx>
      <c:valAx>
        <c:axId val="153793443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bg2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15379268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  <c:userShapes r:id="rId4"/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8501525028669658E-2"/>
          <c:y val="5.3789939707716422E-2"/>
          <c:w val="0.89336589566929137"/>
          <c:h val="0.80319043856183314"/>
        </c:manualLayout>
      </c:layout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7D1-4D14-903B-A747D3835314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7D1-4D14-903B-A747D3835314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7D1-4D14-903B-A747D3835314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7D1-4D14-903B-A747D3835314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7D1-4D14-903B-A747D383531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나눔스퀘어_ac Bold" panose="020B0600000101010101" pitchFamily="50" charset="-127"/>
                    <a:ea typeface="나눔스퀘어_ac Bold" panose="020B0600000101010101" pitchFamily="50" charset="-127"/>
                    <a:cs typeface="+mn-cs"/>
                  </a:defRPr>
                </a:pPr>
                <a:endParaRPr lang="ko-K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매우 그렇다</c:v>
                </c:pt>
                <c:pt idx="1">
                  <c:v>그렇다</c:v>
                </c:pt>
                <c:pt idx="2">
                  <c:v>보통이다</c:v>
                </c:pt>
                <c:pt idx="3">
                  <c:v>그렇지 않다</c:v>
                </c:pt>
                <c:pt idx="4">
                  <c:v>매우 그렇지 않다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37D1-4D14-903B-A747D38353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537926816"/>
        <c:axId val="1537934432"/>
      </c:barChart>
      <c:catAx>
        <c:axId val="15379268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537934432"/>
        <c:crosses val="autoZero"/>
        <c:auto val="1"/>
        <c:lblAlgn val="ctr"/>
        <c:lblOffset val="100"/>
        <c:noMultiLvlLbl val="0"/>
      </c:catAx>
      <c:valAx>
        <c:axId val="153793443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bg2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15379268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  <c:userShapes r:id="rId4"/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8501525028669658E-2"/>
          <c:y val="5.3789939707716422E-2"/>
          <c:w val="0.89336589566929137"/>
          <c:h val="0.80319043856183314"/>
        </c:manualLayout>
      </c:layout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5358-4EA1-9687-6BBC9C862217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358-4EA1-9687-6BBC9C862217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>
                  <a:alpha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358-4EA1-9687-6BBC9C862217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95D7-4ED1-B8A7-A0C6649BF57E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95D7-4ED1-B8A7-A0C6649BF57E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나눔스퀘어_ac Bold" panose="020B0600000101010101" pitchFamily="50" charset="-127"/>
                    <a:ea typeface="나눔스퀘어_ac Bold" panose="020B0600000101010101" pitchFamily="50" charset="-127"/>
                    <a:cs typeface="+mn-cs"/>
                  </a:defRPr>
                </a:pPr>
                <a:endParaRPr lang="ko-K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매우 그렇다</c:v>
                </c:pt>
                <c:pt idx="1">
                  <c:v>그렇다</c:v>
                </c:pt>
                <c:pt idx="2">
                  <c:v>보통이다</c:v>
                </c:pt>
                <c:pt idx="3">
                  <c:v>그렇지 않다</c:v>
                </c:pt>
                <c:pt idx="4">
                  <c:v>매우 그렇지 않다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358-4EA1-9687-6BBC9C8622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537926816"/>
        <c:axId val="1537934432"/>
      </c:barChart>
      <c:catAx>
        <c:axId val="15379268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537934432"/>
        <c:crosses val="autoZero"/>
        <c:auto val="1"/>
        <c:lblAlgn val="ctr"/>
        <c:lblOffset val="100"/>
        <c:noMultiLvlLbl val="0"/>
      </c:catAx>
      <c:valAx>
        <c:axId val="153793443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bg2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15379268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  <c:userShapes r:id="rId4"/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0.0676</cdr:x>
      <cdr:y>0.188</cdr:y>
    </cdr:from>
    <cdr:to>
      <cdr:x>0.47631</cdr:x>
      <cdr:y>0.25383</cdr:y>
    </cdr:to>
    <cdr:sp macro="" textlink="">
      <cdr:nvSpPr>
        <cdr:cNvPr id="3" name="TextBox 13">
          <a:extLst xmlns:a="http://schemas.openxmlformats.org/drawingml/2006/main">
            <a:ext uri="{FF2B5EF4-FFF2-40B4-BE49-F238E27FC236}">
              <a16:creationId xmlns:a16="http://schemas.microsoft.com/office/drawing/2014/main" id="{8AB0BF9B-DE80-611B-D5F2-FA5E1C775341}"/>
            </a:ext>
          </a:extLst>
        </cdr:cNvPr>
        <cdr:cNvSpPr txBox="1"/>
      </cdr:nvSpPr>
      <cdr:spPr>
        <a:xfrm xmlns:a="http://schemas.openxmlformats.org/drawingml/2006/main">
          <a:off x="770781" y="878984"/>
          <a:ext cx="4659799" cy="307777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txBody>
        <a:bodyPr xmlns:a="http://schemas.openxmlformats.org/drawingml/2006/main" wrap="square">
          <a:spAutoFit/>
        </a:bodyPr>
        <a:lstStyle xmlns:a="http://schemas.openxmlformats.org/drawingml/2006/main">
          <a:defPPr>
            <a:defRPr lang="ko-KR"/>
          </a:defPPr>
          <a:lvl1pPr marL="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ko-KR" altLang="en-US" sz="1400" kern="0" dirty="0">
              <a:solidFill>
                <a:schemeClr val="bg2">
                  <a:lumMod val="25000"/>
                </a:schemeClr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  <a:sym typeface="Arial"/>
            </a:rPr>
            <a:t>그렇다</a:t>
          </a:r>
          <a:endParaRPr lang="ko-KR" altLang="en-US" sz="1400" dirty="0">
            <a:solidFill>
              <a:schemeClr val="bg2">
                <a:lumMod val="25000"/>
              </a:schemeClr>
            </a:solidFill>
          </a:endParaRPr>
        </a:p>
      </cdr:txBody>
    </cdr:sp>
  </cdr:relSizeAnchor>
  <cdr:relSizeAnchor xmlns:cdr="http://schemas.openxmlformats.org/drawingml/2006/chartDrawing">
    <cdr:from>
      <cdr:x>0.0696</cdr:x>
      <cdr:y>0.34616</cdr:y>
    </cdr:from>
    <cdr:to>
      <cdr:x>0.4783</cdr:x>
      <cdr:y>0.41199</cdr:y>
    </cdr:to>
    <cdr:sp macro="" textlink="">
      <cdr:nvSpPr>
        <cdr:cNvPr id="4" name="TextBox 13">
          <a:extLst xmlns:a="http://schemas.openxmlformats.org/drawingml/2006/main">
            <a:ext uri="{FF2B5EF4-FFF2-40B4-BE49-F238E27FC236}">
              <a16:creationId xmlns:a16="http://schemas.microsoft.com/office/drawing/2014/main" id="{8AB0BF9B-DE80-611B-D5F2-FA5E1C775341}"/>
            </a:ext>
          </a:extLst>
        </cdr:cNvPr>
        <cdr:cNvSpPr txBox="1"/>
      </cdr:nvSpPr>
      <cdr:spPr>
        <a:xfrm xmlns:a="http://schemas.openxmlformats.org/drawingml/2006/main">
          <a:off x="793504" y="1618452"/>
          <a:ext cx="4659799" cy="307777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txBody>
        <a:bodyPr xmlns:a="http://schemas.openxmlformats.org/drawingml/2006/main" wrap="square">
          <a:spAutoFit/>
        </a:bodyPr>
        <a:lstStyle xmlns:a="http://schemas.openxmlformats.org/drawingml/2006/main">
          <a:defPPr>
            <a:defRPr lang="ko-KR"/>
          </a:defPPr>
          <a:lvl1pPr marL="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ko-KR" altLang="en-US" sz="1400" kern="0" dirty="0">
              <a:solidFill>
                <a:schemeClr val="bg2">
                  <a:lumMod val="25000"/>
                </a:schemeClr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  <a:sym typeface="Arial"/>
            </a:rPr>
            <a:t>보통이다</a:t>
          </a:r>
          <a:endParaRPr lang="ko-KR" altLang="en-US" sz="1400" dirty="0">
            <a:solidFill>
              <a:schemeClr val="bg2">
                <a:lumMod val="25000"/>
              </a:schemeClr>
            </a:solidFill>
          </a:endParaRPr>
        </a:p>
      </cdr:txBody>
    </cdr:sp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0.0676</cdr:x>
      <cdr:y>0.188</cdr:y>
    </cdr:from>
    <cdr:to>
      <cdr:x>0.47631</cdr:x>
      <cdr:y>0.25383</cdr:y>
    </cdr:to>
    <cdr:sp macro="" textlink="">
      <cdr:nvSpPr>
        <cdr:cNvPr id="3" name="TextBox 13">
          <a:extLst xmlns:a="http://schemas.openxmlformats.org/drawingml/2006/main">
            <a:ext uri="{FF2B5EF4-FFF2-40B4-BE49-F238E27FC236}">
              <a16:creationId xmlns:a16="http://schemas.microsoft.com/office/drawing/2014/main" id="{8AB0BF9B-DE80-611B-D5F2-FA5E1C775341}"/>
            </a:ext>
          </a:extLst>
        </cdr:cNvPr>
        <cdr:cNvSpPr txBox="1"/>
      </cdr:nvSpPr>
      <cdr:spPr>
        <a:xfrm xmlns:a="http://schemas.openxmlformats.org/drawingml/2006/main">
          <a:off x="770781" y="878984"/>
          <a:ext cx="4659799" cy="307777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txBody>
        <a:bodyPr xmlns:a="http://schemas.openxmlformats.org/drawingml/2006/main" wrap="square">
          <a:spAutoFit/>
        </a:bodyPr>
        <a:lstStyle xmlns:a="http://schemas.openxmlformats.org/drawingml/2006/main">
          <a:defPPr>
            <a:defRPr lang="ko-KR"/>
          </a:defPPr>
          <a:lvl1pPr marL="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ko-KR" altLang="en-US" sz="1400" kern="0" dirty="0">
              <a:solidFill>
                <a:schemeClr val="bg2">
                  <a:lumMod val="25000"/>
                </a:schemeClr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  <a:sym typeface="Arial"/>
            </a:rPr>
            <a:t>그렇다</a:t>
          </a:r>
          <a:endParaRPr lang="ko-KR" altLang="en-US" sz="1400" dirty="0">
            <a:solidFill>
              <a:schemeClr val="bg2">
                <a:lumMod val="25000"/>
              </a:schemeClr>
            </a:solidFill>
          </a:endParaRPr>
        </a:p>
      </cdr:txBody>
    </cdr:sp>
  </cdr:relSizeAnchor>
  <cdr:relSizeAnchor xmlns:cdr="http://schemas.openxmlformats.org/drawingml/2006/chartDrawing">
    <cdr:from>
      <cdr:x>0.0696</cdr:x>
      <cdr:y>0.34616</cdr:y>
    </cdr:from>
    <cdr:to>
      <cdr:x>0.4783</cdr:x>
      <cdr:y>0.41199</cdr:y>
    </cdr:to>
    <cdr:sp macro="" textlink="">
      <cdr:nvSpPr>
        <cdr:cNvPr id="4" name="TextBox 13">
          <a:extLst xmlns:a="http://schemas.openxmlformats.org/drawingml/2006/main">
            <a:ext uri="{FF2B5EF4-FFF2-40B4-BE49-F238E27FC236}">
              <a16:creationId xmlns:a16="http://schemas.microsoft.com/office/drawing/2014/main" id="{8AB0BF9B-DE80-611B-D5F2-FA5E1C775341}"/>
            </a:ext>
          </a:extLst>
        </cdr:cNvPr>
        <cdr:cNvSpPr txBox="1"/>
      </cdr:nvSpPr>
      <cdr:spPr>
        <a:xfrm xmlns:a="http://schemas.openxmlformats.org/drawingml/2006/main">
          <a:off x="793504" y="1618452"/>
          <a:ext cx="4659799" cy="307777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txBody>
        <a:bodyPr xmlns:a="http://schemas.openxmlformats.org/drawingml/2006/main" wrap="square">
          <a:spAutoFit/>
        </a:bodyPr>
        <a:lstStyle xmlns:a="http://schemas.openxmlformats.org/drawingml/2006/main">
          <a:defPPr>
            <a:defRPr lang="ko-KR"/>
          </a:defPPr>
          <a:lvl1pPr marL="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ko-KR" altLang="en-US" sz="1400" kern="0" dirty="0">
              <a:solidFill>
                <a:schemeClr val="bg2">
                  <a:lumMod val="25000"/>
                </a:schemeClr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  <a:sym typeface="Arial"/>
            </a:rPr>
            <a:t>보통이다</a:t>
          </a:r>
          <a:endParaRPr lang="ko-KR" altLang="en-US" sz="1400" dirty="0">
            <a:solidFill>
              <a:schemeClr val="bg2">
                <a:lumMod val="25000"/>
              </a:schemeClr>
            </a:solidFill>
          </a:endParaRPr>
        </a:p>
      </cdr:txBody>
    </cdr:sp>
  </cdr:relSizeAnchor>
</c:userShapes>
</file>

<file path=ppt/drawings/drawing3.xml><?xml version="1.0" encoding="utf-8"?>
<c:userShapes xmlns:c="http://schemas.openxmlformats.org/drawingml/2006/chart">
  <cdr:relSizeAnchor xmlns:cdr="http://schemas.openxmlformats.org/drawingml/2006/chartDrawing">
    <cdr:from>
      <cdr:x>0.0676</cdr:x>
      <cdr:y>0.188</cdr:y>
    </cdr:from>
    <cdr:to>
      <cdr:x>0.47631</cdr:x>
      <cdr:y>0.25383</cdr:y>
    </cdr:to>
    <cdr:sp macro="" textlink="">
      <cdr:nvSpPr>
        <cdr:cNvPr id="3" name="TextBox 13">
          <a:extLst xmlns:a="http://schemas.openxmlformats.org/drawingml/2006/main">
            <a:ext uri="{FF2B5EF4-FFF2-40B4-BE49-F238E27FC236}">
              <a16:creationId xmlns:a16="http://schemas.microsoft.com/office/drawing/2014/main" id="{8AB0BF9B-DE80-611B-D5F2-FA5E1C775341}"/>
            </a:ext>
          </a:extLst>
        </cdr:cNvPr>
        <cdr:cNvSpPr txBox="1"/>
      </cdr:nvSpPr>
      <cdr:spPr>
        <a:xfrm xmlns:a="http://schemas.openxmlformats.org/drawingml/2006/main">
          <a:off x="770781" y="878984"/>
          <a:ext cx="4659799" cy="307777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txBody>
        <a:bodyPr xmlns:a="http://schemas.openxmlformats.org/drawingml/2006/main" wrap="square">
          <a:spAutoFit/>
        </a:bodyPr>
        <a:lstStyle xmlns:a="http://schemas.openxmlformats.org/drawingml/2006/main">
          <a:defPPr>
            <a:defRPr lang="ko-KR"/>
          </a:defPPr>
          <a:lvl1pPr marL="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ko-KR" altLang="en-US" sz="1400" kern="0" dirty="0">
              <a:solidFill>
                <a:schemeClr val="bg2">
                  <a:lumMod val="25000"/>
                </a:schemeClr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  <a:sym typeface="Arial"/>
            </a:rPr>
            <a:t>그렇다</a:t>
          </a:r>
          <a:endParaRPr lang="ko-KR" altLang="en-US" sz="1400" dirty="0">
            <a:solidFill>
              <a:schemeClr val="bg2">
                <a:lumMod val="25000"/>
              </a:schemeClr>
            </a:solidFill>
          </a:endParaRPr>
        </a:p>
      </cdr:txBody>
    </cdr:sp>
  </cdr:relSizeAnchor>
  <cdr:relSizeAnchor xmlns:cdr="http://schemas.openxmlformats.org/drawingml/2006/chartDrawing">
    <cdr:from>
      <cdr:x>0.0696</cdr:x>
      <cdr:y>0.34616</cdr:y>
    </cdr:from>
    <cdr:to>
      <cdr:x>0.4783</cdr:x>
      <cdr:y>0.41199</cdr:y>
    </cdr:to>
    <cdr:sp macro="" textlink="">
      <cdr:nvSpPr>
        <cdr:cNvPr id="4" name="TextBox 13">
          <a:extLst xmlns:a="http://schemas.openxmlformats.org/drawingml/2006/main">
            <a:ext uri="{FF2B5EF4-FFF2-40B4-BE49-F238E27FC236}">
              <a16:creationId xmlns:a16="http://schemas.microsoft.com/office/drawing/2014/main" id="{8AB0BF9B-DE80-611B-D5F2-FA5E1C775341}"/>
            </a:ext>
          </a:extLst>
        </cdr:cNvPr>
        <cdr:cNvSpPr txBox="1"/>
      </cdr:nvSpPr>
      <cdr:spPr>
        <a:xfrm xmlns:a="http://schemas.openxmlformats.org/drawingml/2006/main">
          <a:off x="793504" y="1618452"/>
          <a:ext cx="4659799" cy="307777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txBody>
        <a:bodyPr xmlns:a="http://schemas.openxmlformats.org/drawingml/2006/main" wrap="square">
          <a:spAutoFit/>
        </a:bodyPr>
        <a:lstStyle xmlns:a="http://schemas.openxmlformats.org/drawingml/2006/main">
          <a:defPPr>
            <a:defRPr lang="ko-KR"/>
          </a:defPPr>
          <a:lvl1pPr marL="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ko-KR" altLang="en-US" sz="1400" kern="0" dirty="0">
              <a:solidFill>
                <a:schemeClr val="bg2">
                  <a:lumMod val="25000"/>
                </a:schemeClr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  <a:sym typeface="Arial"/>
            </a:rPr>
            <a:t>보통이다</a:t>
          </a:r>
          <a:endParaRPr lang="ko-KR" altLang="en-US" sz="1400" dirty="0">
            <a:solidFill>
              <a:schemeClr val="bg2">
                <a:lumMod val="25000"/>
              </a:schemeClr>
            </a:solidFill>
          </a:endParaRPr>
        </a:p>
      </cdr:txBody>
    </cdr:sp>
  </cdr:relSizeAnchor>
</c:userShapes>
</file>

<file path=ppt/drawings/drawing4.xml><?xml version="1.0" encoding="utf-8"?>
<c:userShapes xmlns:c="http://schemas.openxmlformats.org/drawingml/2006/chart">
  <cdr:relSizeAnchor xmlns:cdr="http://schemas.openxmlformats.org/drawingml/2006/chartDrawing">
    <cdr:from>
      <cdr:x>0.0676</cdr:x>
      <cdr:y>0.188</cdr:y>
    </cdr:from>
    <cdr:to>
      <cdr:x>0.47631</cdr:x>
      <cdr:y>0.25383</cdr:y>
    </cdr:to>
    <cdr:sp macro="" textlink="">
      <cdr:nvSpPr>
        <cdr:cNvPr id="3" name="TextBox 13">
          <a:extLst xmlns:a="http://schemas.openxmlformats.org/drawingml/2006/main">
            <a:ext uri="{FF2B5EF4-FFF2-40B4-BE49-F238E27FC236}">
              <a16:creationId xmlns:a16="http://schemas.microsoft.com/office/drawing/2014/main" id="{8AB0BF9B-DE80-611B-D5F2-FA5E1C775341}"/>
            </a:ext>
          </a:extLst>
        </cdr:cNvPr>
        <cdr:cNvSpPr txBox="1"/>
      </cdr:nvSpPr>
      <cdr:spPr>
        <a:xfrm xmlns:a="http://schemas.openxmlformats.org/drawingml/2006/main">
          <a:off x="770781" y="878984"/>
          <a:ext cx="4659799" cy="307777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txBody>
        <a:bodyPr xmlns:a="http://schemas.openxmlformats.org/drawingml/2006/main" wrap="square">
          <a:spAutoFit/>
        </a:bodyPr>
        <a:lstStyle xmlns:a="http://schemas.openxmlformats.org/drawingml/2006/main">
          <a:defPPr>
            <a:defRPr lang="ko-KR"/>
          </a:defPPr>
          <a:lvl1pPr marL="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ko-KR" altLang="en-US" sz="1400" kern="0" dirty="0">
              <a:solidFill>
                <a:schemeClr val="bg2">
                  <a:lumMod val="25000"/>
                </a:schemeClr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  <a:sym typeface="Arial"/>
            </a:rPr>
            <a:t>그렇다</a:t>
          </a:r>
          <a:endParaRPr lang="ko-KR" altLang="en-US" sz="1400" dirty="0">
            <a:solidFill>
              <a:schemeClr val="bg2">
                <a:lumMod val="25000"/>
              </a:schemeClr>
            </a:solidFill>
          </a:endParaRPr>
        </a:p>
      </cdr:txBody>
    </cdr:sp>
  </cdr:relSizeAnchor>
  <cdr:relSizeAnchor xmlns:cdr="http://schemas.openxmlformats.org/drawingml/2006/chartDrawing">
    <cdr:from>
      <cdr:x>0.0696</cdr:x>
      <cdr:y>0.34616</cdr:y>
    </cdr:from>
    <cdr:to>
      <cdr:x>0.4783</cdr:x>
      <cdr:y>0.41199</cdr:y>
    </cdr:to>
    <cdr:sp macro="" textlink="">
      <cdr:nvSpPr>
        <cdr:cNvPr id="4" name="TextBox 13">
          <a:extLst xmlns:a="http://schemas.openxmlformats.org/drawingml/2006/main">
            <a:ext uri="{FF2B5EF4-FFF2-40B4-BE49-F238E27FC236}">
              <a16:creationId xmlns:a16="http://schemas.microsoft.com/office/drawing/2014/main" id="{8AB0BF9B-DE80-611B-D5F2-FA5E1C775341}"/>
            </a:ext>
          </a:extLst>
        </cdr:cNvPr>
        <cdr:cNvSpPr txBox="1"/>
      </cdr:nvSpPr>
      <cdr:spPr>
        <a:xfrm xmlns:a="http://schemas.openxmlformats.org/drawingml/2006/main">
          <a:off x="793504" y="1618452"/>
          <a:ext cx="4659799" cy="307777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txBody>
        <a:bodyPr xmlns:a="http://schemas.openxmlformats.org/drawingml/2006/main" wrap="square">
          <a:spAutoFit/>
        </a:bodyPr>
        <a:lstStyle xmlns:a="http://schemas.openxmlformats.org/drawingml/2006/main">
          <a:defPPr>
            <a:defRPr lang="ko-KR"/>
          </a:defPPr>
          <a:lvl1pPr marL="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ko-KR" altLang="en-US" sz="1400" kern="0" dirty="0">
              <a:solidFill>
                <a:schemeClr val="bg2">
                  <a:lumMod val="25000"/>
                </a:schemeClr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  <a:sym typeface="Arial"/>
            </a:rPr>
            <a:t>보통이다</a:t>
          </a:r>
          <a:endParaRPr lang="ko-KR" altLang="en-US" sz="1400" dirty="0">
            <a:solidFill>
              <a:schemeClr val="bg2">
                <a:lumMod val="25000"/>
              </a:schemeClr>
            </a:solidFill>
          </a:endParaRPr>
        </a:p>
      </cdr:txBody>
    </cdr:sp>
  </cdr:relSizeAnchor>
</c:userShapes>
</file>

<file path=ppt/drawings/drawing5.xml><?xml version="1.0" encoding="utf-8"?>
<c:userShapes xmlns:c="http://schemas.openxmlformats.org/drawingml/2006/chart">
  <cdr:relSizeAnchor xmlns:cdr="http://schemas.openxmlformats.org/drawingml/2006/chartDrawing">
    <cdr:from>
      <cdr:x>0.0676</cdr:x>
      <cdr:y>0.188</cdr:y>
    </cdr:from>
    <cdr:to>
      <cdr:x>0.47631</cdr:x>
      <cdr:y>0.25383</cdr:y>
    </cdr:to>
    <cdr:sp macro="" textlink="">
      <cdr:nvSpPr>
        <cdr:cNvPr id="3" name="TextBox 13">
          <a:extLst xmlns:a="http://schemas.openxmlformats.org/drawingml/2006/main">
            <a:ext uri="{FF2B5EF4-FFF2-40B4-BE49-F238E27FC236}">
              <a16:creationId xmlns:a16="http://schemas.microsoft.com/office/drawing/2014/main" id="{8AB0BF9B-DE80-611B-D5F2-FA5E1C775341}"/>
            </a:ext>
          </a:extLst>
        </cdr:cNvPr>
        <cdr:cNvSpPr txBox="1"/>
      </cdr:nvSpPr>
      <cdr:spPr>
        <a:xfrm xmlns:a="http://schemas.openxmlformats.org/drawingml/2006/main">
          <a:off x="770781" y="878984"/>
          <a:ext cx="4659799" cy="307777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txBody>
        <a:bodyPr xmlns:a="http://schemas.openxmlformats.org/drawingml/2006/main" wrap="square">
          <a:spAutoFit/>
        </a:bodyPr>
        <a:lstStyle xmlns:a="http://schemas.openxmlformats.org/drawingml/2006/main">
          <a:defPPr>
            <a:defRPr lang="ko-KR"/>
          </a:defPPr>
          <a:lvl1pPr marL="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ko-KR" altLang="en-US" sz="1400" kern="0" dirty="0">
              <a:solidFill>
                <a:schemeClr val="bg2">
                  <a:lumMod val="25000"/>
                </a:schemeClr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  <a:sym typeface="Arial"/>
            </a:rPr>
            <a:t>그렇다</a:t>
          </a:r>
          <a:endParaRPr lang="ko-KR" altLang="en-US" sz="1400" dirty="0">
            <a:solidFill>
              <a:schemeClr val="bg2">
                <a:lumMod val="25000"/>
              </a:schemeClr>
            </a:solidFill>
          </a:endParaRPr>
        </a:p>
      </cdr:txBody>
    </cdr:sp>
  </cdr:relSizeAnchor>
  <cdr:relSizeAnchor xmlns:cdr="http://schemas.openxmlformats.org/drawingml/2006/chartDrawing">
    <cdr:from>
      <cdr:x>0.0696</cdr:x>
      <cdr:y>0.34616</cdr:y>
    </cdr:from>
    <cdr:to>
      <cdr:x>0.4783</cdr:x>
      <cdr:y>0.41199</cdr:y>
    </cdr:to>
    <cdr:sp macro="" textlink="">
      <cdr:nvSpPr>
        <cdr:cNvPr id="4" name="TextBox 13">
          <a:extLst xmlns:a="http://schemas.openxmlformats.org/drawingml/2006/main">
            <a:ext uri="{FF2B5EF4-FFF2-40B4-BE49-F238E27FC236}">
              <a16:creationId xmlns:a16="http://schemas.microsoft.com/office/drawing/2014/main" id="{8AB0BF9B-DE80-611B-D5F2-FA5E1C775341}"/>
            </a:ext>
          </a:extLst>
        </cdr:cNvPr>
        <cdr:cNvSpPr txBox="1"/>
      </cdr:nvSpPr>
      <cdr:spPr>
        <a:xfrm xmlns:a="http://schemas.openxmlformats.org/drawingml/2006/main">
          <a:off x="793504" y="1618452"/>
          <a:ext cx="4659799" cy="307777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txBody>
        <a:bodyPr xmlns:a="http://schemas.openxmlformats.org/drawingml/2006/main" wrap="square">
          <a:spAutoFit/>
        </a:bodyPr>
        <a:lstStyle xmlns:a="http://schemas.openxmlformats.org/drawingml/2006/main">
          <a:defPPr>
            <a:defRPr lang="ko-KR"/>
          </a:defPPr>
          <a:lvl1pPr marL="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ko-KR" altLang="en-US" sz="1400" kern="0" dirty="0">
              <a:solidFill>
                <a:schemeClr val="bg2">
                  <a:lumMod val="25000"/>
                </a:schemeClr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  <a:sym typeface="Arial"/>
            </a:rPr>
            <a:t>보통이다</a:t>
          </a:r>
          <a:endParaRPr lang="ko-KR" altLang="en-US" sz="1400" dirty="0">
            <a:solidFill>
              <a:schemeClr val="bg2">
                <a:lumMod val="25000"/>
              </a:schemeClr>
            </a:solidFill>
          </a:endParaRPr>
        </a:p>
      </cdr:txBody>
    </cdr:sp>
  </cdr:relSizeAnchor>
</c:userShapes>
</file>

<file path=ppt/drawings/drawing6.xml><?xml version="1.0" encoding="utf-8"?>
<c:userShapes xmlns:c="http://schemas.openxmlformats.org/drawingml/2006/chart">
  <cdr:relSizeAnchor xmlns:cdr="http://schemas.openxmlformats.org/drawingml/2006/chartDrawing">
    <cdr:from>
      <cdr:x>0.0676</cdr:x>
      <cdr:y>0.188</cdr:y>
    </cdr:from>
    <cdr:to>
      <cdr:x>0.47631</cdr:x>
      <cdr:y>0.25383</cdr:y>
    </cdr:to>
    <cdr:sp macro="" textlink="">
      <cdr:nvSpPr>
        <cdr:cNvPr id="3" name="TextBox 13">
          <a:extLst xmlns:a="http://schemas.openxmlformats.org/drawingml/2006/main">
            <a:ext uri="{FF2B5EF4-FFF2-40B4-BE49-F238E27FC236}">
              <a16:creationId xmlns:a16="http://schemas.microsoft.com/office/drawing/2014/main" id="{8AB0BF9B-DE80-611B-D5F2-FA5E1C775341}"/>
            </a:ext>
          </a:extLst>
        </cdr:cNvPr>
        <cdr:cNvSpPr txBox="1"/>
      </cdr:nvSpPr>
      <cdr:spPr>
        <a:xfrm xmlns:a="http://schemas.openxmlformats.org/drawingml/2006/main">
          <a:off x="770781" y="878984"/>
          <a:ext cx="4659799" cy="307777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txBody>
        <a:bodyPr xmlns:a="http://schemas.openxmlformats.org/drawingml/2006/main" wrap="square">
          <a:spAutoFit/>
        </a:bodyPr>
        <a:lstStyle xmlns:a="http://schemas.openxmlformats.org/drawingml/2006/main">
          <a:defPPr>
            <a:defRPr lang="ko-KR"/>
          </a:defPPr>
          <a:lvl1pPr marL="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ko-KR" altLang="en-US" sz="1400" kern="0" dirty="0">
              <a:solidFill>
                <a:schemeClr val="bg2">
                  <a:lumMod val="25000"/>
                </a:schemeClr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  <a:sym typeface="Arial"/>
            </a:rPr>
            <a:t>그렇다</a:t>
          </a:r>
          <a:endParaRPr lang="ko-KR" altLang="en-US" sz="1400" dirty="0">
            <a:solidFill>
              <a:schemeClr val="bg2">
                <a:lumMod val="25000"/>
              </a:schemeClr>
            </a:solidFill>
          </a:endParaRPr>
        </a:p>
      </cdr:txBody>
    </cdr:sp>
  </cdr:relSizeAnchor>
  <cdr:relSizeAnchor xmlns:cdr="http://schemas.openxmlformats.org/drawingml/2006/chartDrawing">
    <cdr:from>
      <cdr:x>0.0696</cdr:x>
      <cdr:y>0.34616</cdr:y>
    </cdr:from>
    <cdr:to>
      <cdr:x>0.4783</cdr:x>
      <cdr:y>0.41199</cdr:y>
    </cdr:to>
    <cdr:sp macro="" textlink="">
      <cdr:nvSpPr>
        <cdr:cNvPr id="4" name="TextBox 13">
          <a:extLst xmlns:a="http://schemas.openxmlformats.org/drawingml/2006/main">
            <a:ext uri="{FF2B5EF4-FFF2-40B4-BE49-F238E27FC236}">
              <a16:creationId xmlns:a16="http://schemas.microsoft.com/office/drawing/2014/main" id="{8AB0BF9B-DE80-611B-D5F2-FA5E1C775341}"/>
            </a:ext>
          </a:extLst>
        </cdr:cNvPr>
        <cdr:cNvSpPr txBox="1"/>
      </cdr:nvSpPr>
      <cdr:spPr>
        <a:xfrm xmlns:a="http://schemas.openxmlformats.org/drawingml/2006/main">
          <a:off x="793504" y="1618452"/>
          <a:ext cx="4659799" cy="307777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txBody>
        <a:bodyPr xmlns:a="http://schemas.openxmlformats.org/drawingml/2006/main" wrap="square">
          <a:spAutoFit/>
        </a:bodyPr>
        <a:lstStyle xmlns:a="http://schemas.openxmlformats.org/drawingml/2006/main">
          <a:defPPr>
            <a:defRPr lang="ko-KR"/>
          </a:defPPr>
          <a:lvl1pPr marL="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ko-KR" altLang="en-US" sz="1400" kern="0" dirty="0">
              <a:solidFill>
                <a:schemeClr val="bg2">
                  <a:lumMod val="25000"/>
                </a:schemeClr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  <a:sym typeface="Arial"/>
            </a:rPr>
            <a:t>보통이다</a:t>
          </a:r>
          <a:endParaRPr lang="ko-KR" altLang="en-US" sz="1400" dirty="0">
            <a:solidFill>
              <a:schemeClr val="bg2">
                <a:lumMod val="25000"/>
              </a:schemeClr>
            </a:solidFill>
          </a:endParaRPr>
        </a:p>
      </cdr:txBody>
    </cdr:sp>
  </cdr:relSizeAnchor>
</c:userShapes>
</file>

<file path=ppt/drawings/drawing7.xml><?xml version="1.0" encoding="utf-8"?>
<c:userShapes xmlns:c="http://schemas.openxmlformats.org/drawingml/2006/chart">
  <cdr:relSizeAnchor xmlns:cdr="http://schemas.openxmlformats.org/drawingml/2006/chartDrawing">
    <cdr:from>
      <cdr:x>0.0676</cdr:x>
      <cdr:y>0.188</cdr:y>
    </cdr:from>
    <cdr:to>
      <cdr:x>0.47631</cdr:x>
      <cdr:y>0.25383</cdr:y>
    </cdr:to>
    <cdr:sp macro="" textlink="">
      <cdr:nvSpPr>
        <cdr:cNvPr id="3" name="TextBox 13">
          <a:extLst xmlns:a="http://schemas.openxmlformats.org/drawingml/2006/main">
            <a:ext uri="{FF2B5EF4-FFF2-40B4-BE49-F238E27FC236}">
              <a16:creationId xmlns:a16="http://schemas.microsoft.com/office/drawing/2014/main" id="{8AB0BF9B-DE80-611B-D5F2-FA5E1C775341}"/>
            </a:ext>
          </a:extLst>
        </cdr:cNvPr>
        <cdr:cNvSpPr txBox="1"/>
      </cdr:nvSpPr>
      <cdr:spPr>
        <a:xfrm xmlns:a="http://schemas.openxmlformats.org/drawingml/2006/main">
          <a:off x="770781" y="878984"/>
          <a:ext cx="4659799" cy="307777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txBody>
        <a:bodyPr xmlns:a="http://schemas.openxmlformats.org/drawingml/2006/main" wrap="square">
          <a:spAutoFit/>
        </a:bodyPr>
        <a:lstStyle xmlns:a="http://schemas.openxmlformats.org/drawingml/2006/main">
          <a:defPPr>
            <a:defRPr lang="ko-KR"/>
          </a:defPPr>
          <a:lvl1pPr marL="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ko-KR" altLang="en-US" sz="1400" kern="0" dirty="0">
              <a:solidFill>
                <a:schemeClr val="bg2">
                  <a:lumMod val="25000"/>
                </a:schemeClr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  <a:sym typeface="Arial"/>
            </a:rPr>
            <a:t>그렇다</a:t>
          </a:r>
          <a:endParaRPr lang="ko-KR" altLang="en-US" sz="1400" dirty="0">
            <a:solidFill>
              <a:schemeClr val="bg2">
                <a:lumMod val="25000"/>
              </a:schemeClr>
            </a:solidFill>
          </a:endParaRPr>
        </a:p>
      </cdr:txBody>
    </cdr:sp>
  </cdr:relSizeAnchor>
  <cdr:relSizeAnchor xmlns:cdr="http://schemas.openxmlformats.org/drawingml/2006/chartDrawing">
    <cdr:from>
      <cdr:x>0.0696</cdr:x>
      <cdr:y>0.34616</cdr:y>
    </cdr:from>
    <cdr:to>
      <cdr:x>0.4783</cdr:x>
      <cdr:y>0.41199</cdr:y>
    </cdr:to>
    <cdr:sp macro="" textlink="">
      <cdr:nvSpPr>
        <cdr:cNvPr id="4" name="TextBox 13">
          <a:extLst xmlns:a="http://schemas.openxmlformats.org/drawingml/2006/main">
            <a:ext uri="{FF2B5EF4-FFF2-40B4-BE49-F238E27FC236}">
              <a16:creationId xmlns:a16="http://schemas.microsoft.com/office/drawing/2014/main" id="{8AB0BF9B-DE80-611B-D5F2-FA5E1C775341}"/>
            </a:ext>
          </a:extLst>
        </cdr:cNvPr>
        <cdr:cNvSpPr txBox="1"/>
      </cdr:nvSpPr>
      <cdr:spPr>
        <a:xfrm xmlns:a="http://schemas.openxmlformats.org/drawingml/2006/main">
          <a:off x="793504" y="1618452"/>
          <a:ext cx="4659799" cy="307777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txBody>
        <a:bodyPr xmlns:a="http://schemas.openxmlformats.org/drawingml/2006/main" wrap="square">
          <a:spAutoFit/>
        </a:bodyPr>
        <a:lstStyle xmlns:a="http://schemas.openxmlformats.org/drawingml/2006/main">
          <a:defPPr>
            <a:defRPr lang="ko-KR"/>
          </a:defPPr>
          <a:lvl1pPr marL="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1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ko-KR" altLang="en-US" sz="1400" kern="0" dirty="0">
              <a:solidFill>
                <a:schemeClr val="bg2">
                  <a:lumMod val="25000"/>
                </a:schemeClr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  <a:sym typeface="Arial"/>
            </a:rPr>
            <a:t>보통이다</a:t>
          </a:r>
          <a:endParaRPr lang="ko-KR" altLang="en-US" sz="1400" dirty="0">
            <a:solidFill>
              <a:schemeClr val="bg2">
                <a:lumMod val="25000"/>
              </a:schemeClr>
            </a:solidFill>
          </a:endParaRPr>
        </a:p>
      </cdr:txBody>
    </cdr:sp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E091E8-AA0E-EF63-D70D-2FFFB4870B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2AF56E4-0D3C-D244-A9E2-999BFCA731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E7B1AD-520F-A3AF-BC0D-8B6244390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1317D-523D-413C-91A6-B8A72C78F4FF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72DB66-BED0-4628-9B7E-9A03F1A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BAFC28-FBA2-595E-1A39-3F650D177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1585B-EE44-4905-AE99-DA42F36BBD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329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BC0829-FF49-BF06-8E22-D3C095B7C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124A9B-F202-1921-249A-8770481AD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1A4DD2-B108-B146-CCE0-E7AB47665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1317D-523D-413C-91A6-B8A72C78F4FF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61B037-042F-ABF3-6B90-B786438A1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55B27B-65E2-A792-42C9-9FAD53EDD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1585B-EE44-4905-AE99-DA42F36BBD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6853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68D8CD-44DA-969E-2BC9-0D37EEA86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048A73-1866-6643-AF74-AAE44E966B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DD1F2A-0B38-18BA-EDA7-85E1FA7EF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1317D-523D-413C-91A6-B8A72C78F4FF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0310D91-A9DA-AD5C-7A36-BE3A987D3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C5924E-20DB-B261-F3D0-EF25F5A5F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1585B-EE44-4905-AE99-DA42F36BBD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40259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8FE0D0-DA4F-C318-3449-8F685DC5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DA87C5-FF8B-F8E2-583A-558B2ACFF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1367C8-0F3A-6B40-1941-3403AAE7A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0B1FB7-F73C-BF8E-A047-BAF9FD1D0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1317D-523D-413C-91A6-B8A72C78F4FF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E3F410E-3215-D9BA-C2CE-C82E9CD22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EB56E3-D12D-BDCC-3BEE-BBE67650F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1585B-EE44-4905-AE99-DA42F36BBD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07940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F2372A-9241-9B89-D888-A414AC2DF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9B5E5B-8E8E-6091-0838-977D7ACB7E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E6DA4FA-DE42-C1FE-F6C8-6D58125A19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8BA0BE8-E04F-E28A-6C44-248FDCF418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EA8CABF-97F5-DC5C-CAAC-27E200AD29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A40E300-7F46-D8CE-D8D9-0BE96202C1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1317D-523D-413C-91A6-B8A72C78F4FF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5D417AB-FC37-1FA6-8F14-5A14E0802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9ECFD5-501C-8DB2-8DE5-7C1AA26A1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1585B-EE44-4905-AE99-DA42F36BBD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7234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A3D166-D08D-DEC0-E370-B01AF58F5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473621F-76E8-77EA-4C34-0D2957405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1317D-523D-413C-91A6-B8A72C78F4FF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390C74-897E-BC88-44DE-49EBE0159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60B25B1-DB2F-D6A0-1A6D-9928D47FA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1585B-EE44-4905-AE99-DA42F36BBD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63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573A06E-C09F-F873-D388-0EB10AF4F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1317D-523D-413C-91A6-B8A72C78F4FF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B3F625C-5AF7-C877-0752-7CFF9E2A1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5B788A-39DD-EDEC-ABF9-E62F4DF4B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1585B-EE44-4905-AE99-DA42F36BBD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5114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34C233-93C8-A95E-93D0-7C288E376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B32BB2-3CF5-BA2E-712B-265249E4F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DA61B2D-67B1-D5FE-3827-A81E9DC6D5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3737DBE-1A4B-CBFE-912D-FF72C8327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1317D-523D-413C-91A6-B8A72C78F4FF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7070BBA-88FD-E606-71C1-C4AA4C045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D9E8942-66EB-DD1A-0D1E-430482965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1585B-EE44-4905-AE99-DA42F36BBD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6667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441698-C22B-F177-4D0E-3AB8C6413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A83AF17-F891-04C3-EFFD-5CF7A3EBC8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278AA3F-6396-55B1-F791-A6455DC82E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5565A0F-AD1D-7A93-C125-3A7DAEAC8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1317D-523D-413C-91A6-B8A72C78F4FF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CAEC800-951D-9351-ED61-1F109B659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35823-FAE0-F9A7-F705-4B43DBE08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1585B-EE44-4905-AE99-DA42F36BBD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5691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2EDCDC-0F90-2380-5080-656C9E6D7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030C68-483E-2FF4-DADE-4B571D9D39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7CA8D17-78DE-E156-78DD-6D6C0B897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1317D-523D-413C-91A6-B8A72C78F4FF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995411-64AD-177C-FA5F-F794D252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D0F250-FB75-5627-00F9-67589606B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1585B-EE44-4905-AE99-DA42F36BBD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468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72295C8-A8E3-98AA-4A8F-9ED9E8948D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688EF7A-4A30-40F7-D44B-82AE7F196D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F977D5C-A675-CAD0-0ACB-B0BAC0310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1317D-523D-413C-91A6-B8A72C78F4FF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364086-D3BC-ACD9-A9C0-9D3414895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B0451-5B1A-7271-D14F-B5DC69409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1585B-EE44-4905-AE99-DA42F36BBD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4569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D127CF8-A6C4-E1A7-D242-B0A578E95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5870703-41BA-C0B9-566D-EC1BAEA5C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041D175-63D8-06E9-A134-2A322DF70E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91317D-523D-413C-91A6-B8A72C78F4FF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BD4F0E-5349-A383-733E-CA5C391161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9902CD-4F7A-4D32-8DF2-F5A85BA707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81585B-EE44-4905-AE99-DA42F36BBD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266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D90E5246-1B1F-E499-3D6F-B22450ED7F5F}"/>
              </a:ext>
            </a:extLst>
          </p:cNvPr>
          <p:cNvSpPr/>
          <p:nvPr/>
        </p:nvSpPr>
        <p:spPr>
          <a:xfrm>
            <a:off x="2" y="-2603"/>
            <a:ext cx="5618375" cy="6847632"/>
          </a:xfrm>
          <a:prstGeom prst="rect">
            <a:avLst/>
          </a:prstGeom>
          <a:solidFill>
            <a:schemeClr val="bg1">
              <a:lumMod val="85000"/>
              <a:alpha val="6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8" name="그림 7" descr="클립아트, 스크린샷, 만화 영화, 일러스트레이션이(가) 표시된 사진&#10;&#10;자동 생성된 설명">
            <a:extLst>
              <a:ext uri="{FF2B5EF4-FFF2-40B4-BE49-F238E27FC236}">
                <a16:creationId xmlns:a16="http://schemas.microsoft.com/office/drawing/2014/main" id="{C39015AA-D980-F614-4243-3D6B282AA18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2257" y="-194190"/>
            <a:ext cx="5189411" cy="704182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DB560A60-DA20-EE08-2009-FD1526411B9B}"/>
              </a:ext>
            </a:extLst>
          </p:cNvPr>
          <p:cNvSpPr/>
          <p:nvPr/>
        </p:nvSpPr>
        <p:spPr>
          <a:xfrm>
            <a:off x="5618377" y="-5207"/>
            <a:ext cx="6573623" cy="69352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C70684-79BC-4D5E-B4B1-A1B0B05DF774}"/>
              </a:ext>
            </a:extLst>
          </p:cNvPr>
          <p:cNvSpPr txBox="1"/>
          <p:nvPr/>
        </p:nvSpPr>
        <p:spPr>
          <a:xfrm>
            <a:off x="6164677" y="2803501"/>
            <a:ext cx="580736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13">
              <a:defRPr/>
            </a:pPr>
            <a:r>
              <a:rPr lang="en-US" altLang="ko-KR" sz="3200" spc="50" dirty="0">
                <a:solidFill>
                  <a:srgbClr val="E97132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맑은 고딕 Semilight" panose="020B0502040204020203" pitchFamily="50" charset="-127"/>
              </a:rPr>
              <a:t>SK TNS FLP </a:t>
            </a:r>
            <a:r>
              <a:rPr lang="ko-KR" altLang="en-US" sz="3200" spc="50" dirty="0">
                <a:solidFill>
                  <a:srgbClr val="E97132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맑은 고딕 Semilight" panose="020B0502040204020203" pitchFamily="50" charset="-127"/>
              </a:rPr>
              <a:t>대상 </a:t>
            </a:r>
            <a:endParaRPr lang="en-US" altLang="ko-KR" sz="3200" spc="50" dirty="0">
              <a:solidFill>
                <a:srgbClr val="E97132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맑은 고딕 Semilight" panose="020B0502040204020203" pitchFamily="50" charset="-127"/>
            </a:endParaRPr>
          </a:p>
          <a:p>
            <a:pPr defTabSz="457213">
              <a:defRPr/>
            </a:pPr>
            <a:r>
              <a:rPr lang="ko-KR" altLang="en-US" sz="3200" spc="50" dirty="0" err="1">
                <a:solidFill>
                  <a:srgbClr val="E97132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맑은 고딕 Semilight" panose="020B0502040204020203" pitchFamily="50" charset="-127"/>
              </a:rPr>
              <a:t>인사이트</a:t>
            </a:r>
            <a:r>
              <a:rPr lang="ko-KR" altLang="en-US" sz="3200" spc="50" dirty="0">
                <a:solidFill>
                  <a:srgbClr val="E97132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3200" spc="50" dirty="0" err="1">
                <a:solidFill>
                  <a:srgbClr val="E97132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맑은 고딕 Semilight" panose="020B0502040204020203" pitchFamily="50" charset="-127"/>
              </a:rPr>
              <a:t>트립</a:t>
            </a:r>
            <a:r>
              <a:rPr lang="ko-KR" altLang="en-US" sz="3200" spc="50" dirty="0">
                <a:solidFill>
                  <a:srgbClr val="E97132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맑은 고딕 Semilight" panose="020B0502040204020203" pitchFamily="50" charset="-127"/>
              </a:rPr>
              <a:t> 결과보고서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2B88236F-C8E1-0674-CD31-83C07239D503}"/>
              </a:ext>
            </a:extLst>
          </p:cNvPr>
          <p:cNvGrpSpPr/>
          <p:nvPr/>
        </p:nvGrpSpPr>
        <p:grpSpPr>
          <a:xfrm>
            <a:off x="1" y="0"/>
            <a:ext cx="5231903" cy="72000"/>
            <a:chOff x="3647728" y="116632"/>
            <a:chExt cx="5327910" cy="369332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81A17F0-0594-1531-20C9-2E76ADD96970}"/>
                </a:ext>
              </a:extLst>
            </p:cNvPr>
            <p:cNvSpPr/>
            <p:nvPr/>
          </p:nvSpPr>
          <p:spPr>
            <a:xfrm>
              <a:off x="3647728" y="116632"/>
              <a:ext cx="1620180" cy="369332"/>
            </a:xfrm>
            <a:prstGeom prst="rect">
              <a:avLst/>
            </a:prstGeom>
            <a:solidFill>
              <a:srgbClr val="C316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D3F30DE0-DF05-6DF6-826F-80C65F8D8574}"/>
                </a:ext>
              </a:extLst>
            </p:cNvPr>
            <p:cNvSpPr/>
            <p:nvPr/>
          </p:nvSpPr>
          <p:spPr>
            <a:xfrm>
              <a:off x="4722343" y="116632"/>
              <a:ext cx="4253295" cy="369332"/>
            </a:xfrm>
            <a:prstGeom prst="rect">
              <a:avLst/>
            </a:prstGeom>
            <a:solidFill>
              <a:srgbClr val="E4732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090522D7-895B-F0FC-1A3B-F0DDC736865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0015" y="6444811"/>
            <a:ext cx="1184579" cy="188203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6276109" y="1756064"/>
            <a:ext cx="4249882" cy="104743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결과보고서 이름</a:t>
            </a:r>
          </a:p>
        </p:txBody>
      </p:sp>
    </p:spTree>
    <p:extLst>
      <p:ext uri="{BB962C8B-B14F-4D97-AF65-F5344CB8AC3E}">
        <p14:creationId xmlns:p14="http://schemas.microsoft.com/office/powerpoint/2010/main" val="3346937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7CB8F-91A7-8F4B-5A61-DEBD1712B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DB560A60-DA20-EE08-2009-FD1526411B9B}"/>
              </a:ext>
            </a:extLst>
          </p:cNvPr>
          <p:cNvSpPr/>
          <p:nvPr/>
        </p:nvSpPr>
        <p:spPr>
          <a:xfrm>
            <a:off x="5618377" y="-7219"/>
            <a:ext cx="657362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F6490A8-DBA8-F71A-F1E5-A95F0CD8F686}"/>
              </a:ext>
            </a:extLst>
          </p:cNvPr>
          <p:cNvSpPr/>
          <p:nvPr/>
        </p:nvSpPr>
        <p:spPr>
          <a:xfrm>
            <a:off x="2" y="0"/>
            <a:ext cx="5618375" cy="6883923"/>
          </a:xfrm>
          <a:prstGeom prst="rect">
            <a:avLst/>
          </a:prstGeom>
          <a:solidFill>
            <a:schemeClr val="bg1">
              <a:lumMod val="85000"/>
              <a:alpha val="6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림 1" descr="클립아트, 스크린샷, 만화 영화, 일러스트레이션이(가) 표시된 사진&#10;&#10;자동 생성된 설명">
            <a:extLst>
              <a:ext uri="{FF2B5EF4-FFF2-40B4-BE49-F238E27FC236}">
                <a16:creationId xmlns:a16="http://schemas.microsoft.com/office/drawing/2014/main" id="{324948FF-EA66-C93C-35D8-9FC9BC56808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2257" y="-194190"/>
            <a:ext cx="5189411" cy="70418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6217422-599B-B7DB-9E93-EFD7A7A4DAB9}"/>
              </a:ext>
            </a:extLst>
          </p:cNvPr>
          <p:cNvSpPr txBox="1"/>
          <p:nvPr/>
        </p:nvSpPr>
        <p:spPr>
          <a:xfrm>
            <a:off x="6031806" y="556524"/>
            <a:ext cx="94068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000" dirty="0">
                <a:solidFill>
                  <a:srgbClr val="E97132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목차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55CA6BE-1E39-2AF8-5512-19661809F377}"/>
              </a:ext>
            </a:extLst>
          </p:cNvPr>
          <p:cNvGrpSpPr/>
          <p:nvPr/>
        </p:nvGrpSpPr>
        <p:grpSpPr>
          <a:xfrm>
            <a:off x="6502148" y="1262705"/>
            <a:ext cx="1827904" cy="400110"/>
            <a:chOff x="6538676" y="2460395"/>
            <a:chExt cx="1827905" cy="40011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95D55ED-49C6-B723-CE29-10BC4491A795}"/>
                </a:ext>
              </a:extLst>
            </p:cNvPr>
            <p:cNvSpPr txBox="1"/>
            <p:nvPr/>
          </p:nvSpPr>
          <p:spPr>
            <a:xfrm>
              <a:off x="6538676" y="2469822"/>
              <a:ext cx="603316" cy="369332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rgbClr val="E97132"/>
                  </a:solidFill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01</a:t>
              </a:r>
              <a:endParaRPr lang="ko-KR" altLang="en-US" dirty="0">
                <a:solidFill>
                  <a:srgbClr val="E97132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5E73E0E-84F0-3EAA-1401-9C411DC15114}"/>
                </a:ext>
              </a:extLst>
            </p:cNvPr>
            <p:cNvSpPr txBox="1"/>
            <p:nvPr/>
          </p:nvSpPr>
          <p:spPr>
            <a:xfrm>
              <a:off x="7232936" y="2460395"/>
              <a:ext cx="1133645" cy="4001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dirty="0">
                  <a:solidFill>
                    <a:srgbClr val="E97132"/>
                  </a:solidFill>
                  <a:latin typeface="나눔스퀘어_ac Bold" panose="020B0600000101010101" pitchFamily="50" charset="-127"/>
                  <a:ea typeface="나눔스퀘어_ac Bold" panose="020B0600000101010101" pitchFamily="50" charset="-127"/>
                </a:rPr>
                <a:t>교육 개요</a:t>
              </a: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754BDBC2-D997-867A-53D5-A1E56BD03DB5}"/>
              </a:ext>
            </a:extLst>
          </p:cNvPr>
          <p:cNvGrpSpPr/>
          <p:nvPr/>
        </p:nvGrpSpPr>
        <p:grpSpPr>
          <a:xfrm>
            <a:off x="6502147" y="2988957"/>
            <a:ext cx="2070162" cy="400110"/>
            <a:chOff x="6503436" y="3954638"/>
            <a:chExt cx="2070163" cy="40010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E1EDB40-2D22-2604-E3CE-0E30848B710D}"/>
                </a:ext>
              </a:extLst>
            </p:cNvPr>
            <p:cNvSpPr txBox="1"/>
            <p:nvPr/>
          </p:nvSpPr>
          <p:spPr>
            <a:xfrm>
              <a:off x="6503436" y="3970027"/>
              <a:ext cx="603316" cy="369331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rgbClr val="E97132"/>
                  </a:solidFill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02</a:t>
              </a:r>
              <a:endParaRPr lang="ko-KR" altLang="en-US" dirty="0">
                <a:solidFill>
                  <a:srgbClr val="E97132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672CF07-ACAC-4E0E-035A-5E26F3C73CE7}"/>
                </a:ext>
              </a:extLst>
            </p:cNvPr>
            <p:cNvSpPr txBox="1"/>
            <p:nvPr/>
          </p:nvSpPr>
          <p:spPr>
            <a:xfrm>
              <a:off x="7218740" y="3954638"/>
              <a:ext cx="135485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dirty="0">
                  <a:solidFill>
                    <a:srgbClr val="E97132"/>
                  </a:solidFill>
                  <a:latin typeface="나눔스퀘어_ac Bold" panose="020B0600000101010101" pitchFamily="50" charset="-127"/>
                  <a:ea typeface="나눔스퀘어_ac Bold" panose="020B0600000101010101" pitchFamily="50" charset="-127"/>
                </a:rPr>
                <a:t>만족도 통계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99D2255-8165-BF73-F6F5-B664BA211FC3}"/>
              </a:ext>
            </a:extLst>
          </p:cNvPr>
          <p:cNvSpPr txBox="1"/>
          <p:nvPr/>
        </p:nvSpPr>
        <p:spPr>
          <a:xfrm>
            <a:off x="7217451" y="1641463"/>
            <a:ext cx="1239442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891" indent="-342891">
              <a:lnSpc>
                <a:spcPct val="150000"/>
              </a:lnSpc>
              <a:buAutoNum type="arabicParenR"/>
            </a:pPr>
            <a:r>
              <a:rPr lang="ko-KR" altLang="en-US" sz="1500" dirty="0"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교육 개요</a:t>
            </a:r>
            <a:endParaRPr lang="en-US" altLang="ko-KR" sz="1500" dirty="0"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  <a:p>
            <a:pPr marL="342891" indent="-342891">
              <a:lnSpc>
                <a:spcPct val="150000"/>
              </a:lnSpc>
              <a:buAutoNum type="arabicParenR"/>
            </a:pPr>
            <a:r>
              <a:rPr lang="ko-KR" altLang="en-US" sz="1500" dirty="0"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커리큘럼</a:t>
            </a:r>
            <a:endParaRPr lang="en-US" altLang="ko-KR" sz="1500" dirty="0"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EC6755-4713-687A-A0A9-590E6398E417}"/>
              </a:ext>
            </a:extLst>
          </p:cNvPr>
          <p:cNvSpPr txBox="1"/>
          <p:nvPr/>
        </p:nvSpPr>
        <p:spPr>
          <a:xfrm>
            <a:off x="7217451" y="3403446"/>
            <a:ext cx="1782860" cy="11310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891" indent="-342891">
              <a:lnSpc>
                <a:spcPct val="150000"/>
              </a:lnSpc>
              <a:buAutoNum type="arabicParenR"/>
            </a:pPr>
            <a:r>
              <a:rPr lang="ko-KR" altLang="en-US" sz="1500" dirty="0"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설문 구성</a:t>
            </a:r>
            <a:endParaRPr lang="en-US" altLang="ko-KR" sz="1500" dirty="0"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  <a:p>
            <a:pPr marL="342891" indent="-342891">
              <a:lnSpc>
                <a:spcPct val="150000"/>
              </a:lnSpc>
              <a:buAutoNum type="arabicParenR"/>
            </a:pPr>
            <a:r>
              <a:rPr lang="ko-KR" altLang="en-US" sz="1500" dirty="0"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객관식 설문 결과</a:t>
            </a:r>
            <a:endParaRPr lang="en-US" altLang="ko-KR" sz="1500" dirty="0"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  <a:p>
            <a:pPr marL="342891" indent="-342891">
              <a:lnSpc>
                <a:spcPct val="150000"/>
              </a:lnSpc>
              <a:buAutoNum type="arabicParenR"/>
            </a:pPr>
            <a:r>
              <a:rPr lang="ko-KR" altLang="en-US" sz="1500" dirty="0"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주관식 설문 결과</a:t>
            </a:r>
            <a:endParaRPr lang="en-US" altLang="ko-KR" sz="1500" dirty="0"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2B88236F-C8E1-0674-CD31-83C07239D503}"/>
              </a:ext>
            </a:extLst>
          </p:cNvPr>
          <p:cNvGrpSpPr/>
          <p:nvPr/>
        </p:nvGrpSpPr>
        <p:grpSpPr>
          <a:xfrm>
            <a:off x="1" y="0"/>
            <a:ext cx="5231903" cy="72000"/>
            <a:chOff x="3647728" y="116632"/>
            <a:chExt cx="5327910" cy="369332"/>
          </a:xfrm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A81A17F0-0594-1531-20C9-2E76ADD96970}"/>
                </a:ext>
              </a:extLst>
            </p:cNvPr>
            <p:cNvSpPr/>
            <p:nvPr/>
          </p:nvSpPr>
          <p:spPr>
            <a:xfrm>
              <a:off x="3647728" y="116632"/>
              <a:ext cx="1620180" cy="369332"/>
            </a:xfrm>
            <a:prstGeom prst="rect">
              <a:avLst/>
            </a:prstGeom>
            <a:solidFill>
              <a:srgbClr val="C316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D3F30DE0-DF05-6DF6-826F-80C65F8D8574}"/>
                </a:ext>
              </a:extLst>
            </p:cNvPr>
            <p:cNvSpPr/>
            <p:nvPr/>
          </p:nvSpPr>
          <p:spPr>
            <a:xfrm>
              <a:off x="4722343" y="116632"/>
              <a:ext cx="4253295" cy="369332"/>
            </a:xfrm>
            <a:prstGeom prst="rect">
              <a:avLst/>
            </a:prstGeom>
            <a:solidFill>
              <a:srgbClr val="E4732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24" name="그림 23">
            <a:extLst>
              <a:ext uri="{FF2B5EF4-FFF2-40B4-BE49-F238E27FC236}">
                <a16:creationId xmlns:a16="http://schemas.microsoft.com/office/drawing/2014/main" id="{090522D7-895B-F0FC-1A3B-F0DDC736865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0015" y="6444811"/>
            <a:ext cx="1184579" cy="188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453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1DDD-AB17-BD47-4310-2012EAA94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DB560A60-DA20-EE08-2009-FD1526411B9B}"/>
              </a:ext>
            </a:extLst>
          </p:cNvPr>
          <p:cNvSpPr/>
          <p:nvPr/>
        </p:nvSpPr>
        <p:spPr>
          <a:xfrm>
            <a:off x="5618377" y="6824"/>
            <a:ext cx="657362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E97132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8F65612-DF46-9C36-EF91-A8E506DC6FB1}"/>
              </a:ext>
            </a:extLst>
          </p:cNvPr>
          <p:cNvSpPr/>
          <p:nvPr/>
        </p:nvSpPr>
        <p:spPr>
          <a:xfrm>
            <a:off x="2" y="6824"/>
            <a:ext cx="5618375" cy="6847633"/>
          </a:xfrm>
          <a:prstGeom prst="rect">
            <a:avLst/>
          </a:prstGeom>
          <a:solidFill>
            <a:schemeClr val="bg1">
              <a:lumMod val="85000"/>
              <a:alpha val="6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림 1" descr="클립아트, 스크린샷, 만화 영화, 일러스트레이션이(가) 표시된 사진&#10;&#10;자동 생성된 설명">
            <a:extLst>
              <a:ext uri="{FF2B5EF4-FFF2-40B4-BE49-F238E27FC236}">
                <a16:creationId xmlns:a16="http://schemas.microsoft.com/office/drawing/2014/main" id="{AC45054E-1744-1F5E-245F-E11FC7F8B56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2257" y="-201014"/>
            <a:ext cx="5189411" cy="704182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0EDFCC6-B0B8-98F5-1697-32E549249137}"/>
              </a:ext>
            </a:extLst>
          </p:cNvPr>
          <p:cNvSpPr txBox="1"/>
          <p:nvPr/>
        </p:nvSpPr>
        <p:spPr>
          <a:xfrm>
            <a:off x="6096002" y="2069724"/>
            <a:ext cx="20457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1. </a:t>
            </a:r>
            <a:r>
              <a:rPr lang="ko-KR" altLang="en-US" sz="30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교육 개요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D42E1F-F7AE-5834-1BD5-0CB0127EAD5C}"/>
              </a:ext>
            </a:extLst>
          </p:cNvPr>
          <p:cNvSpPr txBox="1"/>
          <p:nvPr/>
        </p:nvSpPr>
        <p:spPr>
          <a:xfrm>
            <a:off x="6573627" y="2725483"/>
            <a:ext cx="147989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891" indent="-342891">
              <a:lnSpc>
                <a:spcPct val="150000"/>
              </a:lnSpc>
              <a:buAutoNum type="arabicParenR"/>
            </a:pPr>
            <a:r>
              <a:rPr lang="ko-KR" altLang="en-US" sz="2000" dirty="0"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교육 개요</a:t>
            </a:r>
            <a:endParaRPr lang="en-US" altLang="ko-KR" sz="2000" dirty="0"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  <a:p>
            <a:pPr marL="342891" indent="-342891">
              <a:lnSpc>
                <a:spcPct val="150000"/>
              </a:lnSpc>
              <a:buAutoNum type="arabicParenR"/>
            </a:pPr>
            <a:r>
              <a:rPr lang="ko-KR" altLang="en-US" sz="2000" dirty="0"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커리큘럼</a:t>
            </a:r>
            <a:endParaRPr lang="en-US" altLang="ko-KR" sz="2000" dirty="0"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88236F-C8E1-0674-CD31-83C07239D503}"/>
              </a:ext>
            </a:extLst>
          </p:cNvPr>
          <p:cNvGrpSpPr/>
          <p:nvPr/>
        </p:nvGrpSpPr>
        <p:grpSpPr>
          <a:xfrm>
            <a:off x="1" y="0"/>
            <a:ext cx="5231903" cy="72000"/>
            <a:chOff x="3647728" y="116632"/>
            <a:chExt cx="5327910" cy="369332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A81A17F0-0594-1531-20C9-2E76ADD96970}"/>
                </a:ext>
              </a:extLst>
            </p:cNvPr>
            <p:cNvSpPr/>
            <p:nvPr/>
          </p:nvSpPr>
          <p:spPr>
            <a:xfrm>
              <a:off x="3647728" y="116632"/>
              <a:ext cx="1620180" cy="369332"/>
            </a:xfrm>
            <a:prstGeom prst="rect">
              <a:avLst/>
            </a:prstGeom>
            <a:solidFill>
              <a:srgbClr val="C316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D3F30DE0-DF05-6DF6-826F-80C65F8D8574}"/>
                </a:ext>
              </a:extLst>
            </p:cNvPr>
            <p:cNvSpPr/>
            <p:nvPr/>
          </p:nvSpPr>
          <p:spPr>
            <a:xfrm>
              <a:off x="4722343" y="116632"/>
              <a:ext cx="4253295" cy="369332"/>
            </a:xfrm>
            <a:prstGeom prst="rect">
              <a:avLst/>
            </a:prstGeom>
            <a:solidFill>
              <a:srgbClr val="E4732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090522D7-895B-F0FC-1A3B-F0DDC736865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0015" y="6444811"/>
            <a:ext cx="1184579" cy="188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862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A5F3F-2325-8B18-FB16-2B54C2944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1BCB5673-801F-F878-03FF-4CA292794CA1}"/>
              </a:ext>
            </a:extLst>
          </p:cNvPr>
          <p:cNvSpPr/>
          <p:nvPr/>
        </p:nvSpPr>
        <p:spPr>
          <a:xfrm flipV="1">
            <a:off x="2360299" y="659875"/>
            <a:ext cx="9831701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3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370A0B9-BA74-D70B-F1FA-0A77C0F005DE}"/>
              </a:ext>
            </a:extLst>
          </p:cNvPr>
          <p:cNvGraphicFramePr>
            <a:graphicFrameLocks noGrp="1"/>
          </p:cNvGraphicFramePr>
          <p:nvPr/>
        </p:nvGraphicFramePr>
        <p:xfrm>
          <a:off x="420467" y="1207779"/>
          <a:ext cx="11206673" cy="51009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81386">
                  <a:extLst>
                    <a:ext uri="{9D8B030D-6E8A-4147-A177-3AD203B41FA5}">
                      <a16:colId xmlns:a16="http://schemas.microsoft.com/office/drawing/2014/main" val="1545340149"/>
                    </a:ext>
                  </a:extLst>
                </a:gridCol>
                <a:gridCol w="9225287">
                  <a:extLst>
                    <a:ext uri="{9D8B030D-6E8A-4147-A177-3AD203B41FA5}">
                      <a16:colId xmlns:a16="http://schemas.microsoft.com/office/drawing/2014/main" val="3899072727"/>
                    </a:ext>
                  </a:extLst>
                </a:gridCol>
              </a:tblGrid>
              <a:tr h="1020189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sz="1600" dirty="0" err="1">
                          <a:solidFill>
                            <a:schemeClr val="bg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과정명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나눔스퀘어_ac Bold" panose="020B0600000101010101" pitchFamily="50" charset="-127"/>
                        <a:ea typeface="나눔스퀘어_ac Bold" panose="020B0600000101010101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732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SK TNS FLP </a:t>
                      </a:r>
                      <a:r>
                        <a:rPr lang="ko-KR" altLang="en-US" sz="16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대상 </a:t>
                      </a:r>
                      <a:r>
                        <a:rPr lang="ko-KR" altLang="en-US" sz="16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인사이트</a:t>
                      </a:r>
                      <a:r>
                        <a:rPr lang="ko-KR" altLang="en-US" sz="16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 </a:t>
                      </a:r>
                      <a:r>
                        <a:rPr lang="ko-KR" altLang="en-US" sz="16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트립</a:t>
                      </a:r>
                      <a:endParaRPr lang="ko-KR" altLang="en-US" sz="1600" kern="0" dirty="0">
                        <a:gradFill>
                          <a:gsLst>
                            <a:gs pos="0">
                              <a:schemeClr val="tx1"/>
                            </a:gs>
                            <a:gs pos="100000">
                              <a:schemeClr val="tx1"/>
                            </a:gs>
                          </a:gsLst>
                          <a:lin ang="5400000" scaled="1"/>
                        </a:gradFill>
                        <a:latin typeface="나눔스퀘어 네오 Heavy" panose="00000A00000000000000" pitchFamily="2" charset="-127"/>
                        <a:ea typeface="나눔스퀘어 네오 Heavy" panose="00000A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91055799"/>
                  </a:ext>
                </a:extLst>
              </a:tr>
              <a:tr h="1020189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교육일정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73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6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2026. 4. 15(</a:t>
                      </a:r>
                      <a:r>
                        <a:rPr lang="ko-KR" altLang="en-US" sz="16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수</a:t>
                      </a:r>
                      <a:r>
                        <a:rPr lang="en-US" altLang="ko-KR" sz="16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) 10:00 ~ 15:00</a:t>
                      </a:r>
                      <a:endParaRPr lang="ko-KR" altLang="en-US" sz="16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스퀘어_ac Bold" panose="020B0600000101010101" pitchFamily="50" charset="-127"/>
                        <a:ea typeface="나눔스퀘어_ac Bold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04227553"/>
                  </a:ext>
                </a:extLst>
              </a:tr>
              <a:tr h="1020189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교육방식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7325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 latinLnBrk="1"/>
                      <a:r>
                        <a:rPr lang="ko-KR" altLang="en-US" sz="16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대면 교육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4351898"/>
                  </a:ext>
                </a:extLst>
              </a:tr>
              <a:tr h="1020189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교육 대상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7325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 latinLnBrk="1"/>
                      <a:r>
                        <a:rPr lang="en-US" altLang="ko-KR" sz="16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SK TNS FLP 9</a:t>
                      </a:r>
                      <a:r>
                        <a:rPr lang="ko-KR" altLang="en-US" sz="16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1756087"/>
                  </a:ext>
                </a:extLst>
              </a:tr>
              <a:tr h="1020189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교육 목표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73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전문가의 </a:t>
                      </a:r>
                      <a:r>
                        <a:rPr lang="ko-KR" altLang="en-US" sz="16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인사이트</a:t>
                      </a:r>
                      <a:r>
                        <a:rPr lang="ko-KR" altLang="en-US" sz="16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 특강과 현장 체험을 통해 공간에 담긴 데이터와 경험 디자인 전략을 이해하고</a:t>
                      </a:r>
                      <a:r>
                        <a:rPr lang="en-US" altLang="ko-KR" sz="16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, </a:t>
                      </a:r>
                    </a:p>
                    <a:p>
                      <a:pPr algn="l"/>
                      <a:r>
                        <a:rPr lang="ko-KR" altLang="en-US" sz="16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사고의 폭을 확장하며 비즈니스에 대한 통찰력을 함양할 수 </a:t>
                      </a:r>
                      <a:r>
                        <a:rPr lang="ko-KR" altLang="en-US" sz="1600" kern="120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있다</a:t>
                      </a:r>
                      <a:r>
                        <a:rPr lang="en-US" altLang="ko-KR" sz="1600" kern="120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.</a:t>
                      </a:r>
                      <a:endParaRPr lang="ko-KR" altLang="en-US" sz="16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스퀘어_ac Bold" panose="020B0600000101010101" pitchFamily="50" charset="-127"/>
                        <a:ea typeface="나눔스퀘어_ac Bold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53994869"/>
                  </a:ext>
                </a:extLst>
              </a:tr>
            </a:tbl>
          </a:graphicData>
        </a:graphic>
      </p:graphicFrame>
      <p:grpSp>
        <p:nvGrpSpPr>
          <p:cNvPr id="10" name="그룹 9">
            <a:extLst>
              <a:ext uri="{FF2B5EF4-FFF2-40B4-BE49-F238E27FC236}">
                <a16:creationId xmlns:a16="http://schemas.microsoft.com/office/drawing/2014/main" id="{2B88236F-C8E1-0674-CD31-83C07239D503}"/>
              </a:ext>
            </a:extLst>
          </p:cNvPr>
          <p:cNvGrpSpPr/>
          <p:nvPr/>
        </p:nvGrpSpPr>
        <p:grpSpPr>
          <a:xfrm>
            <a:off x="1" y="0"/>
            <a:ext cx="5231903" cy="72000"/>
            <a:chOff x="3647728" y="116632"/>
            <a:chExt cx="5327910" cy="369332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A81A17F0-0594-1531-20C9-2E76ADD96970}"/>
                </a:ext>
              </a:extLst>
            </p:cNvPr>
            <p:cNvSpPr/>
            <p:nvPr/>
          </p:nvSpPr>
          <p:spPr>
            <a:xfrm>
              <a:off x="3647728" y="116632"/>
              <a:ext cx="1620180" cy="369332"/>
            </a:xfrm>
            <a:prstGeom prst="rect">
              <a:avLst/>
            </a:prstGeom>
            <a:solidFill>
              <a:srgbClr val="C316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3F30DE0-DF05-6DF6-826F-80C65F8D8574}"/>
                </a:ext>
              </a:extLst>
            </p:cNvPr>
            <p:cNvSpPr/>
            <p:nvPr/>
          </p:nvSpPr>
          <p:spPr>
            <a:xfrm>
              <a:off x="4722343" y="116632"/>
              <a:ext cx="4253295" cy="369332"/>
            </a:xfrm>
            <a:prstGeom prst="rect">
              <a:avLst/>
            </a:prstGeom>
            <a:solidFill>
              <a:srgbClr val="E4732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A15752B-1211-EAB2-BC5D-D5CAF5DE54EA}"/>
              </a:ext>
            </a:extLst>
          </p:cNvPr>
          <p:cNvSpPr txBox="1"/>
          <p:nvPr/>
        </p:nvSpPr>
        <p:spPr>
          <a:xfrm>
            <a:off x="10845164" y="252835"/>
            <a:ext cx="12753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20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교육 개요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7F6C5B-D93C-890D-E09D-59AC0E26F3CF}"/>
              </a:ext>
            </a:extLst>
          </p:cNvPr>
          <p:cNvSpPr txBox="1"/>
          <p:nvPr/>
        </p:nvSpPr>
        <p:spPr>
          <a:xfrm>
            <a:off x="10561563" y="288944"/>
            <a:ext cx="464260" cy="323165"/>
          </a:xfrm>
          <a:prstGeom prst="rect">
            <a:avLst/>
          </a:prstGeom>
          <a:solidFill>
            <a:schemeClr val="accent2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>
                <a:solidFill>
                  <a:schemeClr val="bg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01</a:t>
            </a:r>
            <a:endParaRPr lang="ko-KR" altLang="en-US" sz="1500" dirty="0">
              <a:solidFill>
                <a:schemeClr val="bg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1C8946-99D0-3543-B344-C5ADDBA6A589}"/>
              </a:ext>
            </a:extLst>
          </p:cNvPr>
          <p:cNvSpPr txBox="1"/>
          <p:nvPr/>
        </p:nvSpPr>
        <p:spPr>
          <a:xfrm>
            <a:off x="194825" y="319237"/>
            <a:ext cx="206178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1) </a:t>
            </a:r>
            <a:r>
              <a:rPr lang="ko-KR" altLang="en-US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교육 개요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6276109" y="1756064"/>
            <a:ext cx="4249882" cy="41355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내용만 바뀜</a:t>
            </a:r>
          </a:p>
        </p:txBody>
      </p:sp>
    </p:spTree>
    <p:extLst>
      <p:ext uri="{BB962C8B-B14F-4D97-AF65-F5344CB8AC3E}">
        <p14:creationId xmlns:p14="http://schemas.microsoft.com/office/powerpoint/2010/main" val="18333912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2A505-1145-1C10-8C64-39AB24B2E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DB560A60-DA20-EE08-2009-FD1526411B9B}"/>
              </a:ext>
            </a:extLst>
          </p:cNvPr>
          <p:cNvSpPr/>
          <p:nvPr/>
        </p:nvSpPr>
        <p:spPr>
          <a:xfrm>
            <a:off x="5618377" y="6824"/>
            <a:ext cx="657362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EADD2AA-B235-F7C1-96E1-503AA4D61ADA}"/>
              </a:ext>
            </a:extLst>
          </p:cNvPr>
          <p:cNvSpPr/>
          <p:nvPr/>
        </p:nvSpPr>
        <p:spPr>
          <a:xfrm>
            <a:off x="2" y="13648"/>
            <a:ext cx="5618375" cy="6847633"/>
          </a:xfrm>
          <a:prstGeom prst="rect">
            <a:avLst/>
          </a:prstGeom>
          <a:solidFill>
            <a:schemeClr val="bg1">
              <a:lumMod val="85000"/>
              <a:alpha val="6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림 1" descr="클립아트, 스크린샷, 만화 영화, 일러스트레이션이(가) 표시된 사진&#10;&#10;자동 생성된 설명">
            <a:extLst>
              <a:ext uri="{FF2B5EF4-FFF2-40B4-BE49-F238E27FC236}">
                <a16:creationId xmlns:a16="http://schemas.microsoft.com/office/drawing/2014/main" id="{2C9AB69D-012F-5B16-590C-1CD776412CB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2257" y="-201014"/>
            <a:ext cx="5189411" cy="704182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B5B9389-A9A4-9803-1D40-7746574F22A0}"/>
              </a:ext>
            </a:extLst>
          </p:cNvPr>
          <p:cNvSpPr txBox="1"/>
          <p:nvPr/>
        </p:nvSpPr>
        <p:spPr>
          <a:xfrm>
            <a:off x="6096001" y="2069724"/>
            <a:ext cx="237597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2. </a:t>
            </a:r>
            <a:r>
              <a:rPr lang="ko-KR" altLang="en-US" sz="30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만족도 통계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E33612-2CDC-759A-22D2-A63C5A1A7030}"/>
              </a:ext>
            </a:extLst>
          </p:cNvPr>
          <p:cNvSpPr txBox="1"/>
          <p:nvPr/>
        </p:nvSpPr>
        <p:spPr>
          <a:xfrm>
            <a:off x="6573627" y="2725483"/>
            <a:ext cx="220765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891" indent="-342891">
              <a:lnSpc>
                <a:spcPct val="150000"/>
              </a:lnSpc>
              <a:buAutoNum type="arabicParenR"/>
            </a:pPr>
            <a:r>
              <a:rPr lang="ko-KR" altLang="en-US" sz="2000" dirty="0"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설문 구성</a:t>
            </a:r>
            <a:endParaRPr lang="en-US" altLang="ko-KR" sz="2000" dirty="0"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  <a:p>
            <a:pPr marL="342891" indent="-342891">
              <a:lnSpc>
                <a:spcPct val="150000"/>
              </a:lnSpc>
              <a:buAutoNum type="arabicParenR"/>
            </a:pPr>
            <a:r>
              <a:rPr lang="ko-KR" altLang="en-US" sz="2000" dirty="0"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객관식 설문 결과</a:t>
            </a:r>
            <a:endParaRPr lang="en-US" altLang="ko-KR" sz="2000" dirty="0"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  <a:p>
            <a:pPr marL="342891" indent="-342891">
              <a:lnSpc>
                <a:spcPct val="150000"/>
              </a:lnSpc>
              <a:buAutoNum type="arabicParenR"/>
            </a:pPr>
            <a:r>
              <a:rPr lang="ko-KR" altLang="en-US" sz="2000" dirty="0"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주관식 설문 결과</a:t>
            </a:r>
            <a:endParaRPr lang="en-US" altLang="ko-KR" sz="2000" dirty="0"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90522D7-895B-F0FC-1A3B-F0DDC736865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0015" y="6444811"/>
            <a:ext cx="1184579" cy="188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868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2D982-1D36-630D-EAD5-D2DE5FBE4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FD1C8946-99D0-3543-B344-C5ADDBA6A589}"/>
              </a:ext>
            </a:extLst>
          </p:cNvPr>
          <p:cNvSpPr txBox="1"/>
          <p:nvPr/>
        </p:nvSpPr>
        <p:spPr>
          <a:xfrm>
            <a:off x="194825" y="319237"/>
            <a:ext cx="206178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1) </a:t>
            </a:r>
            <a:r>
              <a:rPr lang="ko-KR" altLang="en-US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설문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011332-F7F8-6DBE-C1A5-C6DCFF4F57B7}"/>
              </a:ext>
            </a:extLst>
          </p:cNvPr>
          <p:cNvSpPr/>
          <p:nvPr/>
        </p:nvSpPr>
        <p:spPr>
          <a:xfrm flipV="1">
            <a:off x="2360299" y="659875"/>
            <a:ext cx="9831701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3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A77379-7016-3BEE-3167-AE9AB4B32C6C}"/>
              </a:ext>
            </a:extLst>
          </p:cNvPr>
          <p:cNvSpPr txBox="1"/>
          <p:nvPr/>
        </p:nvSpPr>
        <p:spPr>
          <a:xfrm>
            <a:off x="10739499" y="262071"/>
            <a:ext cx="13810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20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만족도 통계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0BC53E7-02A1-B92B-C7EF-E0825BEBD3F3}"/>
              </a:ext>
            </a:extLst>
          </p:cNvPr>
          <p:cNvGraphicFramePr>
            <a:graphicFrameLocks noGrp="1"/>
          </p:cNvGraphicFramePr>
          <p:nvPr/>
        </p:nvGraphicFramePr>
        <p:xfrm>
          <a:off x="407988" y="1196972"/>
          <a:ext cx="11196637" cy="511175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07222">
                  <a:extLst>
                    <a:ext uri="{9D8B030D-6E8A-4147-A177-3AD203B41FA5}">
                      <a16:colId xmlns:a16="http://schemas.microsoft.com/office/drawing/2014/main" val="1545340149"/>
                    </a:ext>
                  </a:extLst>
                </a:gridCol>
                <a:gridCol w="8589415">
                  <a:extLst>
                    <a:ext uri="{9D8B030D-6E8A-4147-A177-3AD203B41FA5}">
                      <a16:colId xmlns:a16="http://schemas.microsoft.com/office/drawing/2014/main" val="3899072727"/>
                    </a:ext>
                  </a:extLst>
                </a:gridCol>
              </a:tblGrid>
              <a:tr h="330307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sz="1500" dirty="0">
                          <a:solidFill>
                            <a:schemeClr val="bg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sz="1500" spc="0" dirty="0">
                          <a:solidFill>
                            <a:schemeClr val="bg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문항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124441"/>
                  </a:ext>
                </a:extLst>
              </a:tr>
              <a:tr h="531272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전반적 만족도</a:t>
                      </a:r>
                      <a:r>
                        <a:rPr lang="en-US" altLang="ko-KR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]</a:t>
                      </a:r>
                    </a:p>
                  </a:txBody>
                  <a:tcPr marL="72000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1. </a:t>
                      </a:r>
                      <a:r>
                        <a:rPr lang="ko-KR" altLang="en-US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본 교육에 전반적으로 만족하십니까</a:t>
                      </a:r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?</a:t>
                      </a:r>
                    </a:p>
                  </a:txBody>
                  <a:tcPr marL="72000" marR="9525" marT="9525" marB="0"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91055799"/>
                  </a:ext>
                </a:extLst>
              </a:tr>
              <a:tr h="531272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추천도</a:t>
                      </a:r>
                      <a:r>
                        <a:rPr lang="en-US" altLang="ko-KR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]</a:t>
                      </a:r>
                    </a:p>
                  </a:txBody>
                  <a:tcPr marL="72000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2. </a:t>
                      </a:r>
                      <a:r>
                        <a:rPr lang="ko-KR" altLang="en-US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본 교육을 동료에게 추천하시겠습니까</a:t>
                      </a:r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?</a:t>
                      </a:r>
                    </a:p>
                  </a:txBody>
                  <a:tcPr marL="72000" marR="9525" marT="9525" marB="0"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04227553"/>
                  </a:ext>
                </a:extLst>
              </a:tr>
              <a:tr h="5312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교육일정</a:t>
                      </a:r>
                      <a:r>
                        <a:rPr lang="en-US" altLang="ko-KR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]</a:t>
                      </a:r>
                    </a:p>
                  </a:txBody>
                  <a:tcPr marL="72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3. </a:t>
                      </a:r>
                      <a:r>
                        <a:rPr lang="ko-KR" altLang="en-US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본 교육의 교육일정 및 시간은 적절하다고 생각하십니까</a:t>
                      </a:r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?</a:t>
                      </a:r>
                    </a:p>
                  </a:txBody>
                  <a:tcPr marL="72000"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644387"/>
                  </a:ext>
                </a:extLst>
              </a:tr>
              <a:tr h="531272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교육 난이도</a:t>
                      </a:r>
                      <a:r>
                        <a:rPr lang="en-US" altLang="ko-KR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]</a:t>
                      </a:r>
                    </a:p>
                  </a:txBody>
                  <a:tcPr marL="72000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4. </a:t>
                      </a:r>
                      <a:r>
                        <a:rPr lang="ko-KR" altLang="en-US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본 교육의 난이도는 적절하다고 생각하십니까</a:t>
                      </a:r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?</a:t>
                      </a:r>
                    </a:p>
                  </a:txBody>
                  <a:tcPr marL="72000" marR="9525" marT="9525" marB="0"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09330813"/>
                  </a:ext>
                </a:extLst>
              </a:tr>
              <a:tr h="531272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강사</a:t>
                      </a:r>
                      <a:r>
                        <a:rPr lang="en-US" altLang="ko-KR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]</a:t>
                      </a:r>
                    </a:p>
                  </a:txBody>
                  <a:tcPr marL="72000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5. </a:t>
                      </a:r>
                      <a:r>
                        <a:rPr lang="ko-KR" altLang="en-US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설상훈 교수의 강의 진행에 대해 전반적으로 만족하십니까</a:t>
                      </a:r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?</a:t>
                      </a:r>
                    </a:p>
                  </a:txBody>
                  <a:tcPr marL="72000" marR="9525" marT="9525" marB="0"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61275992"/>
                  </a:ext>
                </a:extLst>
              </a:tr>
              <a:tr h="531272">
                <a:tc vMerge="1">
                  <a:txBody>
                    <a:bodyPr/>
                    <a:lstStyle/>
                    <a:p>
                      <a:pPr algn="l" fontAlgn="ctr"/>
                      <a:endParaRPr lang="en-US" altLang="ko-KR" sz="1500" kern="1200" dirty="0">
                        <a:solidFill>
                          <a:schemeClr val="bg2">
                            <a:lumMod val="25000"/>
                          </a:schemeClr>
                        </a:solidFill>
                        <a:latin typeface="나눔스퀘어_ac Bold" panose="020B0600000101010101" pitchFamily="50" charset="-127"/>
                        <a:ea typeface="나눔스퀘어_ac Bold" panose="020B0600000101010101" pitchFamily="50" charset="-127"/>
                        <a:cs typeface="+mn-cs"/>
                      </a:endParaRPr>
                    </a:p>
                  </a:txBody>
                  <a:tcPr marL="72000" marR="9525" marT="9525" marB="0" anchor="ctr">
                    <a:lnL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6. </a:t>
                      </a:r>
                      <a:r>
                        <a:rPr lang="ko-KR" altLang="en-US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설상훈 교수는 교육 내용에 대해 전문적인 지식을 갖추고 교육을 진행하였습니까</a:t>
                      </a:r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?</a:t>
                      </a:r>
                    </a:p>
                  </a:txBody>
                  <a:tcPr marL="72000" marR="9525" marT="9525" marB="0"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26853497"/>
                  </a:ext>
                </a:extLst>
              </a:tr>
              <a:tr h="531272">
                <a:tc>
                  <a:txBody>
                    <a:bodyPr/>
                    <a:lstStyle/>
                    <a:p>
                      <a:pPr lvl="0" algn="ctr" latinLnBrk="1"/>
                      <a:r>
                        <a:rPr lang="en-US" altLang="ko-KR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교육 운영</a:t>
                      </a:r>
                      <a:r>
                        <a:rPr lang="en-US" altLang="ko-KR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500" kern="1200" dirty="0">
                        <a:solidFill>
                          <a:schemeClr val="bg2">
                            <a:lumMod val="25000"/>
                          </a:schemeClr>
                        </a:solidFill>
                        <a:latin typeface="나눔스퀘어_ac Bold" panose="020B0600000101010101" pitchFamily="50" charset="-127"/>
                        <a:ea typeface="나눔스퀘어_ac Bold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7.  </a:t>
                      </a:r>
                      <a:r>
                        <a:rPr lang="ko-KR" altLang="en-US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교육 장소</a:t>
                      </a:r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사전 안내</a:t>
                      </a:r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과정 운영 등 전반적인 교육 운영은 만족스러우셨습니까</a:t>
                      </a:r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69587526"/>
                  </a:ext>
                </a:extLst>
              </a:tr>
              <a:tr h="531272">
                <a:tc rowSpan="2">
                  <a:txBody>
                    <a:bodyPr/>
                    <a:lstStyle/>
                    <a:p>
                      <a:pPr lvl="0" algn="ctr" latinLnBrk="1"/>
                      <a:r>
                        <a:rPr lang="en-US" altLang="ko-KR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주관식</a:t>
                      </a:r>
                      <a:r>
                        <a:rPr lang="en-US" altLang="ko-KR" sz="1500" kern="12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500" kern="1200" dirty="0">
                        <a:solidFill>
                          <a:schemeClr val="bg2">
                            <a:lumMod val="25000"/>
                          </a:schemeClr>
                        </a:solidFill>
                        <a:latin typeface="나눔스퀘어_ac Bold" panose="020B0600000101010101" pitchFamily="50" charset="-127"/>
                        <a:ea typeface="나눔스퀘어_ac Bold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8. </a:t>
                      </a:r>
                      <a:r>
                        <a:rPr lang="ko-KR" altLang="en-US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본 교육 과정의 좋았던 점에 대해 작성해주십시오</a:t>
                      </a:r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18250464"/>
                  </a:ext>
                </a:extLst>
              </a:tr>
              <a:tr h="531272">
                <a:tc vMerge="1">
                  <a:txBody>
                    <a:bodyPr/>
                    <a:lstStyle/>
                    <a:p>
                      <a:pPr lvl="0" algn="ctr" latinLnBrk="1"/>
                      <a:endParaRPr lang="ko-KR" altLang="en-US" sz="1500" kern="1200" dirty="0">
                        <a:solidFill>
                          <a:schemeClr val="bg2">
                            <a:lumMod val="25000"/>
                          </a:schemeClr>
                        </a:solidFill>
                        <a:latin typeface="나눔스퀘어_ac Bold" panose="020B0600000101010101" pitchFamily="50" charset="-127"/>
                        <a:ea typeface="나눔스퀘어_ac Bold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9. </a:t>
                      </a:r>
                      <a:r>
                        <a:rPr lang="ko-KR" altLang="en-US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본 교육 과정의 아쉬웠던 점에 대해 작성해주십시오</a:t>
                      </a:r>
                      <a:r>
                        <a:rPr lang="en-US" altLang="ko-KR" sz="1200" b="0" kern="0" spc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135650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6F9112B-C853-DEAC-C77B-CC3AF3A8D2A5}"/>
              </a:ext>
            </a:extLst>
          </p:cNvPr>
          <p:cNvSpPr txBox="1"/>
          <p:nvPr/>
        </p:nvSpPr>
        <p:spPr>
          <a:xfrm>
            <a:off x="10275238" y="288944"/>
            <a:ext cx="464260" cy="323165"/>
          </a:xfrm>
          <a:prstGeom prst="rect">
            <a:avLst/>
          </a:prstGeom>
          <a:solidFill>
            <a:schemeClr val="accent2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>
                <a:solidFill>
                  <a:schemeClr val="bg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02</a:t>
            </a:r>
            <a:endParaRPr lang="ko-KR" altLang="en-US" sz="1500" dirty="0">
              <a:solidFill>
                <a:schemeClr val="bg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3013364" y="3752849"/>
            <a:ext cx="924791" cy="29960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 err="1"/>
              <a:t>강사명</a:t>
            </a:r>
            <a:r>
              <a:rPr lang="ko-KR" altLang="en-US" sz="1050" dirty="0"/>
              <a:t> 변경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3093027" y="4244227"/>
            <a:ext cx="924791" cy="29960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 err="1"/>
              <a:t>강사명</a:t>
            </a:r>
            <a:r>
              <a:rPr lang="ko-KR" altLang="en-US" sz="1050" dirty="0"/>
              <a:t> 변경</a:t>
            </a:r>
          </a:p>
        </p:txBody>
      </p:sp>
    </p:spTree>
    <p:extLst>
      <p:ext uri="{BB962C8B-B14F-4D97-AF65-F5344CB8AC3E}">
        <p14:creationId xmlns:p14="http://schemas.microsoft.com/office/powerpoint/2010/main" val="1372831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6689F-E809-6F5C-BCA5-1D974F42C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DC96C2E4-F85B-7C4A-6CA0-AA5AD133A8FE}"/>
              </a:ext>
            </a:extLst>
          </p:cNvPr>
          <p:cNvSpPr txBox="1"/>
          <p:nvPr/>
        </p:nvSpPr>
        <p:spPr>
          <a:xfrm>
            <a:off x="194825" y="319237"/>
            <a:ext cx="314861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2) </a:t>
            </a:r>
            <a:r>
              <a:rPr lang="ko-KR" altLang="en-US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객관식 설문 결과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FB3E05D-D534-3735-9FD3-089EC17F7B8A}"/>
              </a:ext>
            </a:extLst>
          </p:cNvPr>
          <p:cNvSpPr/>
          <p:nvPr/>
        </p:nvSpPr>
        <p:spPr>
          <a:xfrm flipV="1">
            <a:off x="3343443" y="659874"/>
            <a:ext cx="8848556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3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555121-7139-D3BE-6E84-CC65E20FC24E}"/>
              </a:ext>
            </a:extLst>
          </p:cNvPr>
          <p:cNvSpPr txBox="1"/>
          <p:nvPr/>
        </p:nvSpPr>
        <p:spPr>
          <a:xfrm>
            <a:off x="10739499" y="252835"/>
            <a:ext cx="13810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20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만족도 통계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029643-0EEA-8E71-C298-92EEECCC97E5}"/>
              </a:ext>
            </a:extLst>
          </p:cNvPr>
          <p:cNvSpPr txBox="1"/>
          <p:nvPr/>
        </p:nvSpPr>
        <p:spPr>
          <a:xfrm>
            <a:off x="859983" y="808948"/>
            <a:ext cx="609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■ 만족도 요약 </a:t>
            </a:r>
            <a:endParaRPr lang="en-US" altLang="ko-KR" sz="1400" dirty="0">
              <a:solidFill>
                <a:schemeClr val="tx1">
                  <a:lumMod val="75000"/>
                  <a:lumOff val="25000"/>
                </a:schemeClr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   - </a:t>
            </a:r>
            <a:r>
              <a:rPr lang="ko-KR" altLang="en-US" sz="1400" dirty="0"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수강인원 총 </a:t>
            </a:r>
            <a:r>
              <a:rPr lang="en-US" altLang="ko-KR" sz="1400" dirty="0"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9</a:t>
            </a:r>
            <a:r>
              <a:rPr lang="ko-KR" altLang="en-US" sz="1400" dirty="0"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명 중 </a:t>
            </a:r>
            <a:r>
              <a:rPr lang="en-US" altLang="ko-KR" sz="1400" dirty="0"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9</a:t>
            </a:r>
            <a:r>
              <a:rPr lang="ko-KR" altLang="en-US" sz="1400" dirty="0"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명 응답 ｜ </a:t>
            </a:r>
            <a:r>
              <a:rPr lang="ko-KR" altLang="en-US" sz="14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응답률 </a:t>
            </a:r>
            <a:r>
              <a:rPr lang="en-US" altLang="ko-KR" sz="14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100%</a:t>
            </a:r>
          </a:p>
        </p:txBody>
      </p:sp>
      <p:graphicFrame>
        <p:nvGraphicFramePr>
          <p:cNvPr id="10" name="차트 9">
            <a:extLst>
              <a:ext uri="{FF2B5EF4-FFF2-40B4-BE49-F238E27FC236}">
                <a16:creationId xmlns:a16="http://schemas.microsoft.com/office/drawing/2014/main" id="{FA283912-486F-EF33-6E0D-6D1D21A2F51B}"/>
              </a:ext>
            </a:extLst>
          </p:cNvPr>
          <p:cNvGraphicFramePr/>
          <p:nvPr/>
        </p:nvGraphicFramePr>
        <p:xfrm>
          <a:off x="859983" y="1583274"/>
          <a:ext cx="10981035" cy="48962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6F9112B-C853-DEAC-C77B-CC3AF3A8D2A5}"/>
              </a:ext>
            </a:extLst>
          </p:cNvPr>
          <p:cNvSpPr txBox="1"/>
          <p:nvPr/>
        </p:nvSpPr>
        <p:spPr>
          <a:xfrm>
            <a:off x="10275238" y="288944"/>
            <a:ext cx="464260" cy="323165"/>
          </a:xfrm>
          <a:prstGeom prst="rect">
            <a:avLst/>
          </a:prstGeom>
          <a:solidFill>
            <a:schemeClr val="accent2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>
                <a:solidFill>
                  <a:schemeClr val="bg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02</a:t>
            </a:r>
            <a:endParaRPr lang="ko-KR" altLang="en-US" sz="1500" dirty="0">
              <a:solidFill>
                <a:schemeClr val="bg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96902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197E5-2F5B-5656-250A-F53714B83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D7D094A4-C106-8AAC-278E-6423F7FC9B27}"/>
              </a:ext>
            </a:extLst>
          </p:cNvPr>
          <p:cNvSpPr txBox="1"/>
          <p:nvPr/>
        </p:nvSpPr>
        <p:spPr>
          <a:xfrm>
            <a:off x="751048" y="1080613"/>
            <a:ext cx="60960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■ 전반적 만족도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1.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본 교육에 전반적으로 만족하십니까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96C2E4-F85B-7C4A-6CA0-AA5AD133A8FE}"/>
              </a:ext>
            </a:extLst>
          </p:cNvPr>
          <p:cNvSpPr txBox="1"/>
          <p:nvPr/>
        </p:nvSpPr>
        <p:spPr>
          <a:xfrm>
            <a:off x="194825" y="319237"/>
            <a:ext cx="314861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2) </a:t>
            </a:r>
            <a:r>
              <a:rPr lang="ko-KR" altLang="en-US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객관식 설문 결과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3E05D-D534-3735-9FD3-089EC17F7B8A}"/>
              </a:ext>
            </a:extLst>
          </p:cNvPr>
          <p:cNvSpPr/>
          <p:nvPr/>
        </p:nvSpPr>
        <p:spPr>
          <a:xfrm flipV="1">
            <a:off x="3343443" y="659874"/>
            <a:ext cx="8848556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3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555121-7139-D3BE-6E84-CC65E20FC24E}"/>
              </a:ext>
            </a:extLst>
          </p:cNvPr>
          <p:cNvSpPr txBox="1"/>
          <p:nvPr/>
        </p:nvSpPr>
        <p:spPr>
          <a:xfrm>
            <a:off x="10739499" y="252835"/>
            <a:ext cx="13810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20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만족도 통계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F9112B-C853-DEAC-C77B-CC3AF3A8D2A5}"/>
              </a:ext>
            </a:extLst>
          </p:cNvPr>
          <p:cNvSpPr txBox="1"/>
          <p:nvPr/>
        </p:nvSpPr>
        <p:spPr>
          <a:xfrm>
            <a:off x="10275238" y="288944"/>
            <a:ext cx="464260" cy="323165"/>
          </a:xfrm>
          <a:prstGeom prst="rect">
            <a:avLst/>
          </a:prstGeom>
          <a:solidFill>
            <a:schemeClr val="accent2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>
                <a:solidFill>
                  <a:schemeClr val="bg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02</a:t>
            </a:r>
            <a:endParaRPr lang="ko-KR" altLang="en-US" sz="1500" dirty="0">
              <a:solidFill>
                <a:schemeClr val="bg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1651820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매우 그렇다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1" name="TextBox 13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3941551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그렇지 않다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2" name="TextBox 13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4660427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매우 그렇지 않다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graphicFrame>
        <p:nvGraphicFramePr>
          <p:cNvPr id="14" name="차트 13">
            <a:extLst>
              <a:ext uri="{FF2B5EF4-FFF2-40B4-BE49-F238E27FC236}">
                <a16:creationId xmlns:a16="http://schemas.microsoft.com/office/drawing/2014/main" id="{A16698F6-2514-E09D-2DD0-2BBDF7780BCE}"/>
              </a:ext>
            </a:extLst>
          </p:cNvPr>
          <p:cNvGraphicFramePr/>
          <p:nvPr/>
        </p:nvGraphicFramePr>
        <p:xfrm>
          <a:off x="485678" y="1548498"/>
          <a:ext cx="11401425" cy="46753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224685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197E5-2F5B-5656-250A-F53714B83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D7D094A4-C106-8AAC-278E-6423F7FC9B27}"/>
              </a:ext>
            </a:extLst>
          </p:cNvPr>
          <p:cNvSpPr txBox="1"/>
          <p:nvPr/>
        </p:nvSpPr>
        <p:spPr>
          <a:xfrm>
            <a:off x="751048" y="1080613"/>
            <a:ext cx="6096000" cy="467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■ 추천도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2.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본 교육을 동료에게 추천하시겠습니까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1647587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매우 그렇다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3941551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그렇지 않다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TextBox 13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4660427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매우 그렇지 않다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96C2E4-F85B-7C4A-6CA0-AA5AD133A8FE}"/>
              </a:ext>
            </a:extLst>
          </p:cNvPr>
          <p:cNvSpPr txBox="1"/>
          <p:nvPr/>
        </p:nvSpPr>
        <p:spPr>
          <a:xfrm>
            <a:off x="194825" y="319237"/>
            <a:ext cx="314861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2) </a:t>
            </a:r>
            <a:r>
              <a:rPr lang="ko-KR" altLang="en-US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객관식 설문 결과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3E05D-D534-3735-9FD3-089EC17F7B8A}"/>
              </a:ext>
            </a:extLst>
          </p:cNvPr>
          <p:cNvSpPr/>
          <p:nvPr/>
        </p:nvSpPr>
        <p:spPr>
          <a:xfrm flipV="1">
            <a:off x="3343443" y="659874"/>
            <a:ext cx="8848556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3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555121-7139-D3BE-6E84-CC65E20FC24E}"/>
              </a:ext>
            </a:extLst>
          </p:cNvPr>
          <p:cNvSpPr txBox="1"/>
          <p:nvPr/>
        </p:nvSpPr>
        <p:spPr>
          <a:xfrm>
            <a:off x="10739499" y="252835"/>
            <a:ext cx="13810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20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만족도 통계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F9112B-C853-DEAC-C77B-CC3AF3A8D2A5}"/>
              </a:ext>
            </a:extLst>
          </p:cNvPr>
          <p:cNvSpPr txBox="1"/>
          <p:nvPr/>
        </p:nvSpPr>
        <p:spPr>
          <a:xfrm>
            <a:off x="10275238" y="288944"/>
            <a:ext cx="464260" cy="323165"/>
          </a:xfrm>
          <a:prstGeom prst="rect">
            <a:avLst/>
          </a:prstGeom>
          <a:solidFill>
            <a:schemeClr val="accent2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>
                <a:solidFill>
                  <a:schemeClr val="bg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02</a:t>
            </a:r>
            <a:endParaRPr lang="ko-KR" altLang="en-US" sz="1500" dirty="0">
              <a:solidFill>
                <a:schemeClr val="bg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graphicFrame>
        <p:nvGraphicFramePr>
          <p:cNvPr id="19" name="차트 18">
            <a:extLst>
              <a:ext uri="{FF2B5EF4-FFF2-40B4-BE49-F238E27FC236}">
                <a16:creationId xmlns:a16="http://schemas.microsoft.com/office/drawing/2014/main" id="{A16698F6-2514-E09D-2DD0-2BBDF7780BCE}"/>
              </a:ext>
            </a:extLst>
          </p:cNvPr>
          <p:cNvGraphicFramePr/>
          <p:nvPr/>
        </p:nvGraphicFramePr>
        <p:xfrm>
          <a:off x="485678" y="1548498"/>
          <a:ext cx="11401425" cy="46753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27859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197E5-2F5B-5656-250A-F53714B83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D7D094A4-C106-8AAC-278E-6423F7FC9B27}"/>
              </a:ext>
            </a:extLst>
          </p:cNvPr>
          <p:cNvSpPr txBox="1"/>
          <p:nvPr/>
        </p:nvSpPr>
        <p:spPr>
          <a:xfrm>
            <a:off x="751048" y="1080613"/>
            <a:ext cx="6758116" cy="467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■ 교육 일정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3.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본 교육의 교육일정 및 시간은 적절하다고 생각하십니까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96C2E4-F85B-7C4A-6CA0-AA5AD133A8FE}"/>
              </a:ext>
            </a:extLst>
          </p:cNvPr>
          <p:cNvSpPr txBox="1"/>
          <p:nvPr/>
        </p:nvSpPr>
        <p:spPr>
          <a:xfrm>
            <a:off x="194825" y="319237"/>
            <a:ext cx="314861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2) </a:t>
            </a:r>
            <a:r>
              <a:rPr lang="ko-KR" altLang="en-US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객관식 설문 결과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3E05D-D534-3735-9FD3-089EC17F7B8A}"/>
              </a:ext>
            </a:extLst>
          </p:cNvPr>
          <p:cNvSpPr/>
          <p:nvPr/>
        </p:nvSpPr>
        <p:spPr>
          <a:xfrm flipV="1">
            <a:off x="3343443" y="659874"/>
            <a:ext cx="8848556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3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555121-7139-D3BE-6E84-CC65E20FC24E}"/>
              </a:ext>
            </a:extLst>
          </p:cNvPr>
          <p:cNvSpPr txBox="1"/>
          <p:nvPr/>
        </p:nvSpPr>
        <p:spPr>
          <a:xfrm>
            <a:off x="10739499" y="252835"/>
            <a:ext cx="13810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20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만족도 통계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F9112B-C853-DEAC-C77B-CC3AF3A8D2A5}"/>
              </a:ext>
            </a:extLst>
          </p:cNvPr>
          <p:cNvSpPr txBox="1"/>
          <p:nvPr/>
        </p:nvSpPr>
        <p:spPr>
          <a:xfrm>
            <a:off x="10275238" y="288944"/>
            <a:ext cx="464260" cy="323165"/>
          </a:xfrm>
          <a:prstGeom prst="rect">
            <a:avLst/>
          </a:prstGeom>
          <a:solidFill>
            <a:schemeClr val="accent2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>
                <a:solidFill>
                  <a:schemeClr val="bg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02</a:t>
            </a:r>
            <a:endParaRPr lang="ko-KR" altLang="en-US" sz="1500" dirty="0">
              <a:solidFill>
                <a:schemeClr val="bg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1651820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매우 그렇다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0" name="TextBox 13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3941551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그렇지 않다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1" name="TextBox 13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4660427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매우 그렇지 않다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graphicFrame>
        <p:nvGraphicFramePr>
          <p:cNvPr id="14" name="차트 13">
            <a:extLst>
              <a:ext uri="{FF2B5EF4-FFF2-40B4-BE49-F238E27FC236}">
                <a16:creationId xmlns:a16="http://schemas.microsoft.com/office/drawing/2014/main" id="{A16698F6-2514-E09D-2DD0-2BBDF7780BCE}"/>
              </a:ext>
            </a:extLst>
          </p:cNvPr>
          <p:cNvGraphicFramePr/>
          <p:nvPr/>
        </p:nvGraphicFramePr>
        <p:xfrm>
          <a:off x="485678" y="1548498"/>
          <a:ext cx="11401425" cy="46753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1170279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197E5-2F5B-5656-250A-F53714B83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D7D094A4-C106-8AAC-278E-6423F7FC9B27}"/>
              </a:ext>
            </a:extLst>
          </p:cNvPr>
          <p:cNvSpPr txBox="1"/>
          <p:nvPr/>
        </p:nvSpPr>
        <p:spPr>
          <a:xfrm>
            <a:off x="751048" y="1080613"/>
            <a:ext cx="6096000" cy="467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■ 교육 난이도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4.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본 교육의 난이도는 적절하다고 생각하십니까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96C2E4-F85B-7C4A-6CA0-AA5AD133A8FE}"/>
              </a:ext>
            </a:extLst>
          </p:cNvPr>
          <p:cNvSpPr txBox="1"/>
          <p:nvPr/>
        </p:nvSpPr>
        <p:spPr>
          <a:xfrm>
            <a:off x="194825" y="319237"/>
            <a:ext cx="314861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2) </a:t>
            </a:r>
            <a:r>
              <a:rPr lang="ko-KR" altLang="en-US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객관식 설문 결과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3E05D-D534-3735-9FD3-089EC17F7B8A}"/>
              </a:ext>
            </a:extLst>
          </p:cNvPr>
          <p:cNvSpPr/>
          <p:nvPr/>
        </p:nvSpPr>
        <p:spPr>
          <a:xfrm flipV="1">
            <a:off x="3343443" y="659874"/>
            <a:ext cx="8848556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3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555121-7139-D3BE-6E84-CC65E20FC24E}"/>
              </a:ext>
            </a:extLst>
          </p:cNvPr>
          <p:cNvSpPr txBox="1"/>
          <p:nvPr/>
        </p:nvSpPr>
        <p:spPr>
          <a:xfrm>
            <a:off x="10739499" y="252835"/>
            <a:ext cx="13810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20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만족도 통계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F9112B-C853-DEAC-C77B-CC3AF3A8D2A5}"/>
              </a:ext>
            </a:extLst>
          </p:cNvPr>
          <p:cNvSpPr txBox="1"/>
          <p:nvPr/>
        </p:nvSpPr>
        <p:spPr>
          <a:xfrm>
            <a:off x="10275238" y="288944"/>
            <a:ext cx="464260" cy="323165"/>
          </a:xfrm>
          <a:prstGeom prst="rect">
            <a:avLst/>
          </a:prstGeom>
          <a:solidFill>
            <a:schemeClr val="accent2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>
                <a:solidFill>
                  <a:schemeClr val="bg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02</a:t>
            </a:r>
            <a:endParaRPr lang="ko-KR" altLang="en-US" sz="1500" dirty="0">
              <a:solidFill>
                <a:schemeClr val="bg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1651820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매우 그렇다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9" name="TextBox 13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3941551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그렇지 않다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1" name="TextBox 13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4660427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매우 그렇지 않다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graphicFrame>
        <p:nvGraphicFramePr>
          <p:cNvPr id="15" name="차트 14">
            <a:extLst>
              <a:ext uri="{FF2B5EF4-FFF2-40B4-BE49-F238E27FC236}">
                <a16:creationId xmlns:a16="http://schemas.microsoft.com/office/drawing/2014/main" id="{A16698F6-2514-E09D-2DD0-2BBDF7780BCE}"/>
              </a:ext>
            </a:extLst>
          </p:cNvPr>
          <p:cNvGraphicFramePr/>
          <p:nvPr/>
        </p:nvGraphicFramePr>
        <p:xfrm>
          <a:off x="485678" y="1548498"/>
          <a:ext cx="11401425" cy="46753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80495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197E5-2F5B-5656-250A-F53714B83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D7D094A4-C106-8AAC-278E-6423F7FC9B27}"/>
              </a:ext>
            </a:extLst>
          </p:cNvPr>
          <p:cNvSpPr txBox="1"/>
          <p:nvPr/>
        </p:nvSpPr>
        <p:spPr>
          <a:xfrm>
            <a:off x="751047" y="1080613"/>
            <a:ext cx="73492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■ 강사 만족도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5.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설상훈 교수의 강의 진행에 대해 전반적으로 만족하십니까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1651820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매우 그렇다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3941551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그렇지 않다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TextBox 13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4660427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매우 그렇지 않다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96C2E4-F85B-7C4A-6CA0-AA5AD133A8FE}"/>
              </a:ext>
            </a:extLst>
          </p:cNvPr>
          <p:cNvSpPr txBox="1"/>
          <p:nvPr/>
        </p:nvSpPr>
        <p:spPr>
          <a:xfrm>
            <a:off x="194825" y="319237"/>
            <a:ext cx="314861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2) </a:t>
            </a:r>
            <a:r>
              <a:rPr lang="ko-KR" altLang="en-US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객관식 설문 결과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3E05D-D534-3735-9FD3-089EC17F7B8A}"/>
              </a:ext>
            </a:extLst>
          </p:cNvPr>
          <p:cNvSpPr/>
          <p:nvPr/>
        </p:nvSpPr>
        <p:spPr>
          <a:xfrm flipV="1">
            <a:off x="3343443" y="659874"/>
            <a:ext cx="8848556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3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555121-7139-D3BE-6E84-CC65E20FC24E}"/>
              </a:ext>
            </a:extLst>
          </p:cNvPr>
          <p:cNvSpPr txBox="1"/>
          <p:nvPr/>
        </p:nvSpPr>
        <p:spPr>
          <a:xfrm>
            <a:off x="10739499" y="252835"/>
            <a:ext cx="13810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20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만족도 통계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F9112B-C853-DEAC-C77B-CC3AF3A8D2A5}"/>
              </a:ext>
            </a:extLst>
          </p:cNvPr>
          <p:cNvSpPr txBox="1"/>
          <p:nvPr/>
        </p:nvSpPr>
        <p:spPr>
          <a:xfrm>
            <a:off x="10275238" y="288944"/>
            <a:ext cx="464260" cy="323165"/>
          </a:xfrm>
          <a:prstGeom prst="rect">
            <a:avLst/>
          </a:prstGeom>
          <a:solidFill>
            <a:schemeClr val="accent2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>
                <a:solidFill>
                  <a:schemeClr val="bg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02</a:t>
            </a:r>
            <a:endParaRPr lang="ko-KR" altLang="en-US" sz="1500" dirty="0">
              <a:solidFill>
                <a:schemeClr val="bg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graphicFrame>
        <p:nvGraphicFramePr>
          <p:cNvPr id="20" name="차트 19">
            <a:extLst>
              <a:ext uri="{FF2B5EF4-FFF2-40B4-BE49-F238E27FC236}">
                <a16:creationId xmlns:a16="http://schemas.microsoft.com/office/drawing/2014/main" id="{A16698F6-2514-E09D-2DD0-2BBDF7780BCE}"/>
              </a:ext>
            </a:extLst>
          </p:cNvPr>
          <p:cNvGraphicFramePr/>
          <p:nvPr/>
        </p:nvGraphicFramePr>
        <p:xfrm>
          <a:off x="485678" y="1548498"/>
          <a:ext cx="11401425" cy="46753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9" name="직사각형 18"/>
          <p:cNvSpPr/>
          <p:nvPr/>
        </p:nvSpPr>
        <p:spPr>
          <a:xfrm>
            <a:off x="2514600" y="1217204"/>
            <a:ext cx="924791" cy="29960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 err="1"/>
              <a:t>강사명</a:t>
            </a:r>
            <a:r>
              <a:rPr lang="ko-KR" altLang="en-US" sz="1050" dirty="0"/>
              <a:t> 변경</a:t>
            </a:r>
          </a:p>
        </p:txBody>
      </p:sp>
    </p:spTree>
    <p:extLst>
      <p:ext uri="{BB962C8B-B14F-4D97-AF65-F5344CB8AC3E}">
        <p14:creationId xmlns:p14="http://schemas.microsoft.com/office/powerpoint/2010/main" val="5688673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197E5-2F5B-5656-250A-F53714B83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D7D094A4-C106-8AAC-278E-6423F7FC9B27}"/>
              </a:ext>
            </a:extLst>
          </p:cNvPr>
          <p:cNvSpPr txBox="1"/>
          <p:nvPr/>
        </p:nvSpPr>
        <p:spPr>
          <a:xfrm>
            <a:off x="751046" y="1183245"/>
            <a:ext cx="90117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ctr"/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■ 강사 만족도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6.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설상훈 교수는 교육 내용에 대해 전문적인 지식을 갖추고 교육을 진행하였습니까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1651820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매우 그렇다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3941551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그렇지 않다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TextBox 13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4660427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매우 그렇지 않다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96C2E4-F85B-7C4A-6CA0-AA5AD133A8FE}"/>
              </a:ext>
            </a:extLst>
          </p:cNvPr>
          <p:cNvSpPr txBox="1"/>
          <p:nvPr/>
        </p:nvSpPr>
        <p:spPr>
          <a:xfrm>
            <a:off x="194825" y="319237"/>
            <a:ext cx="314861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2) </a:t>
            </a:r>
            <a:r>
              <a:rPr lang="ko-KR" altLang="en-US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객관식 설문 결과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3E05D-D534-3735-9FD3-089EC17F7B8A}"/>
              </a:ext>
            </a:extLst>
          </p:cNvPr>
          <p:cNvSpPr/>
          <p:nvPr/>
        </p:nvSpPr>
        <p:spPr>
          <a:xfrm flipV="1">
            <a:off x="3343443" y="659874"/>
            <a:ext cx="8848556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3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555121-7139-D3BE-6E84-CC65E20FC24E}"/>
              </a:ext>
            </a:extLst>
          </p:cNvPr>
          <p:cNvSpPr txBox="1"/>
          <p:nvPr/>
        </p:nvSpPr>
        <p:spPr>
          <a:xfrm>
            <a:off x="10739499" y="252835"/>
            <a:ext cx="13810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20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만족도 통계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F9112B-C853-DEAC-C77B-CC3AF3A8D2A5}"/>
              </a:ext>
            </a:extLst>
          </p:cNvPr>
          <p:cNvSpPr txBox="1"/>
          <p:nvPr/>
        </p:nvSpPr>
        <p:spPr>
          <a:xfrm>
            <a:off x="10275238" y="288944"/>
            <a:ext cx="464260" cy="323165"/>
          </a:xfrm>
          <a:prstGeom prst="rect">
            <a:avLst/>
          </a:prstGeom>
          <a:solidFill>
            <a:schemeClr val="accent2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>
                <a:solidFill>
                  <a:schemeClr val="bg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02</a:t>
            </a:r>
            <a:endParaRPr lang="ko-KR" altLang="en-US" sz="1500" dirty="0">
              <a:solidFill>
                <a:schemeClr val="bg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graphicFrame>
        <p:nvGraphicFramePr>
          <p:cNvPr id="20" name="차트 19">
            <a:extLst>
              <a:ext uri="{FF2B5EF4-FFF2-40B4-BE49-F238E27FC236}">
                <a16:creationId xmlns:a16="http://schemas.microsoft.com/office/drawing/2014/main" id="{A16698F6-2514-E09D-2DD0-2BBDF7780BCE}"/>
              </a:ext>
            </a:extLst>
          </p:cNvPr>
          <p:cNvGraphicFramePr/>
          <p:nvPr/>
        </p:nvGraphicFramePr>
        <p:xfrm>
          <a:off x="485678" y="1548498"/>
          <a:ext cx="11401425" cy="46753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9" name="직사각형 18"/>
          <p:cNvSpPr/>
          <p:nvPr/>
        </p:nvSpPr>
        <p:spPr>
          <a:xfrm>
            <a:off x="2514600" y="1217204"/>
            <a:ext cx="924791" cy="29960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 err="1"/>
              <a:t>강사명</a:t>
            </a:r>
            <a:r>
              <a:rPr lang="ko-KR" altLang="en-US" sz="1050" dirty="0"/>
              <a:t> 변경</a:t>
            </a:r>
          </a:p>
        </p:txBody>
      </p:sp>
    </p:spTree>
    <p:extLst>
      <p:ext uri="{BB962C8B-B14F-4D97-AF65-F5344CB8AC3E}">
        <p14:creationId xmlns:p14="http://schemas.microsoft.com/office/powerpoint/2010/main" val="24722466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197E5-2F5B-5656-250A-F53714B83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차트 7">
            <a:extLst>
              <a:ext uri="{FF2B5EF4-FFF2-40B4-BE49-F238E27FC236}">
                <a16:creationId xmlns:a16="http://schemas.microsoft.com/office/drawing/2014/main" id="{A16698F6-2514-E09D-2DD0-2BBDF7780BCE}"/>
              </a:ext>
            </a:extLst>
          </p:cNvPr>
          <p:cNvGraphicFramePr/>
          <p:nvPr/>
        </p:nvGraphicFramePr>
        <p:xfrm>
          <a:off x="485678" y="1548498"/>
          <a:ext cx="11401425" cy="46753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7D094A4-C106-8AAC-278E-6423F7FC9B27}"/>
              </a:ext>
            </a:extLst>
          </p:cNvPr>
          <p:cNvSpPr txBox="1"/>
          <p:nvPr/>
        </p:nvSpPr>
        <p:spPr>
          <a:xfrm>
            <a:off x="751047" y="1080613"/>
            <a:ext cx="10281911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■ 교육 운영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7.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교육 장소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,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사전 안내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,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과정 운영 등 전반적인 교육 운영은 만족스러우셨습니까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1651820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매우 그렇다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3941551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그렇지 않다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TextBox 13">
            <a:extLst>
              <a:ext uri="{FF2B5EF4-FFF2-40B4-BE49-F238E27FC236}">
                <a16:creationId xmlns:a16="http://schemas.microsoft.com/office/drawing/2014/main" id="{8AB0BF9B-DE80-611B-D5F2-FA5E1C775341}"/>
              </a:ext>
            </a:extLst>
          </p:cNvPr>
          <p:cNvSpPr txBox="1"/>
          <p:nvPr/>
        </p:nvSpPr>
        <p:spPr>
          <a:xfrm>
            <a:off x="1256460" y="4660427"/>
            <a:ext cx="465979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00" kern="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sym typeface="Arial"/>
              </a:rPr>
              <a:t>매우 그렇지 않다</a:t>
            </a:r>
            <a:endParaRPr lang="ko-KR" alt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96C2E4-F85B-7C4A-6CA0-AA5AD133A8FE}"/>
              </a:ext>
            </a:extLst>
          </p:cNvPr>
          <p:cNvSpPr txBox="1"/>
          <p:nvPr/>
        </p:nvSpPr>
        <p:spPr>
          <a:xfrm>
            <a:off x="194825" y="319237"/>
            <a:ext cx="314861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2) </a:t>
            </a:r>
            <a:r>
              <a:rPr lang="ko-KR" altLang="en-US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객관식 설문 결과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3E05D-D534-3735-9FD3-089EC17F7B8A}"/>
              </a:ext>
            </a:extLst>
          </p:cNvPr>
          <p:cNvSpPr/>
          <p:nvPr/>
        </p:nvSpPr>
        <p:spPr>
          <a:xfrm flipV="1">
            <a:off x="3343443" y="659874"/>
            <a:ext cx="8848556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3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555121-7139-D3BE-6E84-CC65E20FC24E}"/>
              </a:ext>
            </a:extLst>
          </p:cNvPr>
          <p:cNvSpPr txBox="1"/>
          <p:nvPr/>
        </p:nvSpPr>
        <p:spPr>
          <a:xfrm>
            <a:off x="10739499" y="252835"/>
            <a:ext cx="13810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20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만족도 통계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F9112B-C853-DEAC-C77B-CC3AF3A8D2A5}"/>
              </a:ext>
            </a:extLst>
          </p:cNvPr>
          <p:cNvSpPr txBox="1"/>
          <p:nvPr/>
        </p:nvSpPr>
        <p:spPr>
          <a:xfrm>
            <a:off x="10275238" y="288944"/>
            <a:ext cx="464260" cy="323165"/>
          </a:xfrm>
          <a:prstGeom prst="rect">
            <a:avLst/>
          </a:prstGeom>
          <a:solidFill>
            <a:schemeClr val="accent2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>
                <a:solidFill>
                  <a:schemeClr val="bg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02</a:t>
            </a:r>
            <a:endParaRPr lang="ko-KR" altLang="en-US" sz="1500" dirty="0">
              <a:solidFill>
                <a:schemeClr val="bg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97237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197E5-2F5B-5656-250A-F53714B83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D7D094A4-C106-8AAC-278E-6423F7FC9B27}"/>
              </a:ext>
            </a:extLst>
          </p:cNvPr>
          <p:cNvSpPr txBox="1"/>
          <p:nvPr/>
        </p:nvSpPr>
        <p:spPr>
          <a:xfrm>
            <a:off x="530914" y="1022279"/>
            <a:ext cx="881020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■ 좋았던 점 </a:t>
            </a:r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8. 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본 교육 과정의 좋았던 점에 대해 작성해주십시오</a:t>
            </a:r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96C2E4-F85B-7C4A-6CA0-AA5AD133A8FE}"/>
              </a:ext>
            </a:extLst>
          </p:cNvPr>
          <p:cNvSpPr txBox="1"/>
          <p:nvPr/>
        </p:nvSpPr>
        <p:spPr>
          <a:xfrm>
            <a:off x="194825" y="319237"/>
            <a:ext cx="314861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3) </a:t>
            </a:r>
            <a:r>
              <a:rPr lang="ko-KR" altLang="en-US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주관식 설문 결과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3E05D-D534-3735-9FD3-089EC17F7B8A}"/>
              </a:ext>
            </a:extLst>
          </p:cNvPr>
          <p:cNvSpPr/>
          <p:nvPr/>
        </p:nvSpPr>
        <p:spPr>
          <a:xfrm flipV="1">
            <a:off x="3343443" y="659874"/>
            <a:ext cx="8848556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3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555121-7139-D3BE-6E84-CC65E20FC24E}"/>
              </a:ext>
            </a:extLst>
          </p:cNvPr>
          <p:cNvSpPr txBox="1"/>
          <p:nvPr/>
        </p:nvSpPr>
        <p:spPr>
          <a:xfrm>
            <a:off x="10739499" y="252835"/>
            <a:ext cx="13810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20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만족도 통계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6F9112B-C853-DEAC-C77B-CC3AF3A8D2A5}"/>
              </a:ext>
            </a:extLst>
          </p:cNvPr>
          <p:cNvSpPr txBox="1"/>
          <p:nvPr/>
        </p:nvSpPr>
        <p:spPr>
          <a:xfrm>
            <a:off x="10275238" y="288944"/>
            <a:ext cx="464260" cy="323165"/>
          </a:xfrm>
          <a:prstGeom prst="rect">
            <a:avLst/>
          </a:prstGeom>
          <a:solidFill>
            <a:schemeClr val="accent2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>
                <a:solidFill>
                  <a:schemeClr val="bg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02</a:t>
            </a:r>
            <a:endParaRPr lang="ko-KR" altLang="en-US" sz="1500" dirty="0">
              <a:solidFill>
                <a:schemeClr val="bg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730339" y="1428482"/>
            <a:ext cx="10699668" cy="33772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동선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소비 등 필요한 모든 데이터를 통해 만들어졌다는 </a:t>
            </a:r>
            <a:r>
              <a:rPr lang="ko-KR" altLang="en-US" sz="1100" dirty="0" err="1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스타필드와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이제는 필요한 것을 사는 것이 아닌 사고 싶은걸 산다는 변화된 환경에 대해 어떻게 하면 적용 할 수 있을까 많은 것을 느낀 시간이었습니다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</a:p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단순한 </a:t>
            </a:r>
            <a:r>
              <a:rPr lang="ko-KR" altLang="en-US" sz="1100" dirty="0" err="1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마케팅이라고만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생각했던 분야였지만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실제로는 데이터 기반의 정교한 분석과 다양한 관점이 결합된 영역이라는 점에서 인식이 크게 바뀌었고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개인적으로도 매우 신선한 경험이었습니다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</a:p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일반적인 사무공간이 아닌 현장에서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강의에서 배웠던 내용을 직접 눈으로 보고 경험하며 체감할 수 있었다는 점이 매우 인상적이었습니다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특히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축적된 빅데이터가 실제 산업에서 어떻게 활용되는지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b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</a:b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그리고 이를 통해 어떤 전략적 의사결정이 이루어지는지를 확인할 수 있어 의미 있는 시간이었습니다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또한 </a:t>
            </a:r>
            <a:r>
              <a:rPr lang="ko-KR" altLang="en-US" sz="1100" dirty="0" err="1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인사이트를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도출하는 과정에서 주관적인 정성적 판단보다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검증 가능한 정량적 자료가 얼마나 중요한지 다시 한번 깨닫게 되었습니다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</a:p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스타필드라는 새로운 공간에서 교육을 </a:t>
            </a:r>
            <a:r>
              <a:rPr lang="ko-KR" altLang="en-US" sz="1100" dirty="0" err="1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진행하다보니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재미 있었고 </a:t>
            </a:r>
            <a:r>
              <a:rPr lang="ko-KR" altLang="en-US" sz="1100" dirty="0" err="1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스타필드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설계에 대한 데이터 분석과 같은 것들을 경험 할 수 있는 좋은 기회였습니다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</a:p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현업 실무자의 생생한 경험과 이전 진행했던 프로젝트들에 대해서도 흥미롭고 즐겁게 들을 수 있어서 유익했습니다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특히 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＂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경험 디자인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＂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에 대해 매우 관심이 많아졌습니다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  <a:endParaRPr lang="ko-KR" altLang="en-US" sz="1100" dirty="0"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실제 현장을 둘러보면서 강의내용을 확인할 수 있어서 체험적인 사항이 좋았습니다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  <a:endParaRPr lang="ko-KR" altLang="en-US" sz="1100" dirty="0"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설명을 듣고 직접 눈으로 볼 수 있는 강의여서 너무 신선하고 좋았습니다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</a:p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어느 교육보다 재미있고 흥미로웠으며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다양한 데이터를 기반으로 고객의 행동과 흐름까지 고려해 공간을 설계한다는 점이 특히 인상적이었습니다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데이터를 통해 공간이 구성된다는 점에서 활용 가치와 필요성을 느낄 수 있었습니다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</a:p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기존의 업무 내용 및 방식과 상이한 새로운 </a:t>
            </a:r>
            <a:r>
              <a:rPr lang="ko-KR" altLang="en-US" sz="1100" dirty="0" err="1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인사이트를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얻을 수 있었습니다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338" y="5727647"/>
            <a:ext cx="10485529" cy="5124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투어를 하면서 설명을 듣다 보니 주변 상황때문에 집중이 잘 안되는 점은 조금 아쉬웠습니다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</a:p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아쉬웠던 점 보다는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교육장소가 다소 협소해서 더웠습니다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D094A4-C106-8AAC-278E-6423F7FC9B27}"/>
              </a:ext>
            </a:extLst>
          </p:cNvPr>
          <p:cNvSpPr txBox="1"/>
          <p:nvPr/>
        </p:nvSpPr>
        <p:spPr>
          <a:xfrm>
            <a:off x="530914" y="5315253"/>
            <a:ext cx="881020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■ 아쉬웠던 점 </a:t>
            </a:r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9. 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본 교육 과정의 아쉬웠던 점에 대해 작성해주십시오</a:t>
            </a:r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640046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197E5-2F5B-5656-250A-F53714B83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D7D094A4-C106-8AAC-278E-6423F7FC9B27}"/>
              </a:ext>
            </a:extLst>
          </p:cNvPr>
          <p:cNvSpPr txBox="1"/>
          <p:nvPr/>
        </p:nvSpPr>
        <p:spPr>
          <a:xfrm>
            <a:off x="1071242" y="2996551"/>
            <a:ext cx="8810203" cy="384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사진 </a:t>
            </a:r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1P, 6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개 삽입</a:t>
            </a:r>
            <a:endParaRPr lang="en-US" altLang="ko-KR" sz="1400" dirty="0">
              <a:solidFill>
                <a:schemeClr val="tx1">
                  <a:lumMod val="75000"/>
                  <a:lumOff val="25000"/>
                </a:schemeClr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96C2E4-F85B-7C4A-6CA0-AA5AD133A8FE}"/>
              </a:ext>
            </a:extLst>
          </p:cNvPr>
          <p:cNvSpPr txBox="1"/>
          <p:nvPr/>
        </p:nvSpPr>
        <p:spPr>
          <a:xfrm>
            <a:off x="194825" y="319237"/>
            <a:ext cx="206498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3. </a:t>
            </a:r>
            <a:r>
              <a:rPr lang="ko-KR" altLang="en-US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현장 사진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3E05D-D534-3735-9FD3-089EC17F7B8A}"/>
              </a:ext>
            </a:extLst>
          </p:cNvPr>
          <p:cNvSpPr/>
          <p:nvPr/>
        </p:nvSpPr>
        <p:spPr>
          <a:xfrm flipV="1">
            <a:off x="3343443" y="659874"/>
            <a:ext cx="8848556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3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555121-7139-D3BE-6E84-CC65E20FC24E}"/>
              </a:ext>
            </a:extLst>
          </p:cNvPr>
          <p:cNvSpPr txBox="1"/>
          <p:nvPr/>
        </p:nvSpPr>
        <p:spPr>
          <a:xfrm>
            <a:off x="10739499" y="252835"/>
            <a:ext cx="13810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20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만족도 통계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6F9112B-C853-DEAC-C77B-CC3AF3A8D2A5}"/>
              </a:ext>
            </a:extLst>
          </p:cNvPr>
          <p:cNvSpPr txBox="1"/>
          <p:nvPr/>
        </p:nvSpPr>
        <p:spPr>
          <a:xfrm>
            <a:off x="10275238" y="288944"/>
            <a:ext cx="464260" cy="323165"/>
          </a:xfrm>
          <a:prstGeom prst="rect">
            <a:avLst/>
          </a:prstGeom>
          <a:solidFill>
            <a:schemeClr val="accent2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>
                <a:solidFill>
                  <a:schemeClr val="bg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02</a:t>
            </a:r>
            <a:endParaRPr lang="ko-KR" altLang="en-US" sz="1500" dirty="0">
              <a:solidFill>
                <a:schemeClr val="bg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77544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197E5-2F5B-5656-250A-F53714B83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D7D094A4-C106-8AAC-278E-6423F7FC9B27}"/>
              </a:ext>
            </a:extLst>
          </p:cNvPr>
          <p:cNvSpPr txBox="1"/>
          <p:nvPr/>
        </p:nvSpPr>
        <p:spPr>
          <a:xfrm>
            <a:off x="530914" y="1022279"/>
            <a:ext cx="881020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■ 좋았던 점 </a:t>
            </a:r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8. 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본 교육 과정의 좋았던 점에 대해 작성해주십시오</a:t>
            </a:r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96C2E4-F85B-7C4A-6CA0-AA5AD133A8FE}"/>
              </a:ext>
            </a:extLst>
          </p:cNvPr>
          <p:cNvSpPr txBox="1"/>
          <p:nvPr/>
        </p:nvSpPr>
        <p:spPr>
          <a:xfrm>
            <a:off x="194825" y="319237"/>
            <a:ext cx="314861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3) </a:t>
            </a:r>
            <a:r>
              <a:rPr lang="ko-KR" altLang="en-US" sz="3000" dirty="0">
                <a:solidFill>
                  <a:srgbClr val="E47325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주관식 설문 결과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3E05D-D534-3735-9FD3-089EC17F7B8A}"/>
              </a:ext>
            </a:extLst>
          </p:cNvPr>
          <p:cNvSpPr/>
          <p:nvPr/>
        </p:nvSpPr>
        <p:spPr>
          <a:xfrm flipV="1">
            <a:off x="3343443" y="659874"/>
            <a:ext cx="8848556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3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555121-7139-D3BE-6E84-CC65E20FC24E}"/>
              </a:ext>
            </a:extLst>
          </p:cNvPr>
          <p:cNvSpPr txBox="1"/>
          <p:nvPr/>
        </p:nvSpPr>
        <p:spPr>
          <a:xfrm>
            <a:off x="10739499" y="252835"/>
            <a:ext cx="13810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20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만족도 통계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6F9112B-C853-DEAC-C77B-CC3AF3A8D2A5}"/>
              </a:ext>
            </a:extLst>
          </p:cNvPr>
          <p:cNvSpPr txBox="1"/>
          <p:nvPr/>
        </p:nvSpPr>
        <p:spPr>
          <a:xfrm>
            <a:off x="10275238" y="288944"/>
            <a:ext cx="464260" cy="323165"/>
          </a:xfrm>
          <a:prstGeom prst="rect">
            <a:avLst/>
          </a:prstGeom>
          <a:solidFill>
            <a:schemeClr val="accent2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>
                <a:solidFill>
                  <a:schemeClr val="bg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02</a:t>
            </a:r>
            <a:endParaRPr lang="ko-KR" altLang="en-US" sz="1500" dirty="0">
              <a:solidFill>
                <a:schemeClr val="bg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730339" y="1428482"/>
            <a:ext cx="10699668" cy="33772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동선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소비 등 필요한 모든 데이터를 통해 만들어졌다는 스타필드와 이제는 필요한 것을 사는 것이 아닌 사고 싶은걸 산다는 변화된 환경에 대해 어떻게 하면 적용 할 수 있을까 많은 것을</a:t>
            </a:r>
            <a:endParaRPr lang="en-US" altLang="ko-KR" sz="1100"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느낀 시간이었습니다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</a:p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단순한 </a:t>
            </a:r>
            <a:r>
              <a:rPr lang="ko-KR" altLang="en-US" sz="1100" dirty="0" err="1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마케팅이라고만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생각했던 분야였지만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실제로는 데이터 기반의 정교한 분석과 다양한 관점이 결합된 영역이라는 점에서 인식이 크게 바뀌었고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개인적으로도 매우 신선한 경험이었습니다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</a:p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일반적인 사무공간이 아닌 현장에서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강의에서 배웠던 내용을 직접 눈으로 보고 경험하며 체감할 수 있었다는 점이 매우 인상적이었습니다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특히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축적된 빅데이터가 실제 산업에서 어떻게 활용되는지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b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</a:b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그리고 이를 통해 어떤 전략적 의사결정이 이루어지는지를 확인할 수 있어 의미 있는 시간이었습니다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또한 </a:t>
            </a:r>
            <a:r>
              <a:rPr lang="ko-KR" altLang="en-US" sz="1100" dirty="0" err="1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인사이트를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도출하는 과정에서 주관적인 정성적 판단보다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검증 가능한 정량적 자료가 얼마나 중요한지 다시 한번 깨닫게 되었습니다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</a:p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스타필드라는 새로운 공간에서 교육을 </a:t>
            </a:r>
            <a:r>
              <a:rPr lang="ko-KR" altLang="en-US" sz="1100" dirty="0" err="1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진행하다보니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재미 있었고 </a:t>
            </a:r>
            <a:r>
              <a:rPr lang="ko-KR" altLang="en-US" sz="1100" dirty="0" err="1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스타필드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설계에 대한 데이터 분석과 같은 것들을 경험 할 수 있는 좋은 기회였습니다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</a:p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현업 실무자의 생생한 경험과 이전 진행했던 프로젝트들에 대해서도 흥미롭고 즐겁게 들을 수 있어서 유익했습니다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특히 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＂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경험 디자인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＂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에 대해 매우 관심이 많아졌습니다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  <a:endParaRPr lang="ko-KR" altLang="en-US" sz="1100" dirty="0"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실제 현장을 둘러보면서 강의내용을 확인할 수 있어서 체험적인 사항이 좋았습니다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  <a:endParaRPr lang="ko-KR" altLang="en-US" sz="1100" dirty="0"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설명을 듣고 직접 눈으로 볼 수 있는 강의여서 너무 신선하고 좋았습니다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</a:p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어느 교육보다 재미있고 흥미로웠으며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다양한 데이터를 기반으로 고객의 행동과 흐름까지 고려해 공간을 설계한다는 점이 특히 인상적이었습니다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데이터를 통해 공간이 구성된다는 점에서 활용 가치와 필요성을 느낄 수 있었습니다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</a:p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기존의 업무 내용 및 방식과 상이한 새로운 </a:t>
            </a:r>
            <a:r>
              <a:rPr lang="ko-KR" altLang="en-US" sz="1100" dirty="0" err="1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인사이트를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얻을 수 있었습니다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338" y="5727647"/>
            <a:ext cx="10485529" cy="5124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투어를 하면서 설명을 듣다 보니 주변 상황때문에 집중이 잘 안되는 점은 조금 아쉬웠습니다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</a:p>
          <a:p>
            <a:pPr marL="285750" indent="-285750">
              <a:lnSpc>
                <a:spcPct val="130000"/>
              </a:lnSpc>
              <a:buFontTx/>
              <a:buChar char="-"/>
            </a:pP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아쉬웠던 점 보다는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r>
              <a:rPr lang="ko-KR" altLang="en-US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교육장소가 다소 협소해서 더웠습니다</a:t>
            </a:r>
            <a:r>
              <a:rPr lang="en-US" altLang="ko-KR" sz="1100" dirty="0"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D094A4-C106-8AAC-278E-6423F7FC9B27}"/>
              </a:ext>
            </a:extLst>
          </p:cNvPr>
          <p:cNvSpPr txBox="1"/>
          <p:nvPr/>
        </p:nvSpPr>
        <p:spPr>
          <a:xfrm>
            <a:off x="530914" y="5315253"/>
            <a:ext cx="881020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■ 아쉬웠던 점 </a:t>
            </a:r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9. 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본 교육 과정의 아쉬웠던 점에 대해 작성해주십시오</a:t>
            </a:r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473703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57CD7-3F36-3829-39E7-CFDD00732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F2517F-74DD-7825-E0E8-1958F7FEDAED}"/>
              </a:ext>
            </a:extLst>
          </p:cNvPr>
          <p:cNvSpPr/>
          <p:nvPr/>
        </p:nvSpPr>
        <p:spPr>
          <a:xfrm>
            <a:off x="2" y="0"/>
            <a:ext cx="5618375" cy="6883923"/>
          </a:xfrm>
          <a:prstGeom prst="rect">
            <a:avLst/>
          </a:prstGeom>
          <a:solidFill>
            <a:schemeClr val="bg1">
              <a:lumMod val="85000"/>
              <a:alpha val="6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림 1" descr="클립아트, 스크린샷, 만화 영화, 일러스트레이션이(가) 표시된 사진&#10;&#10;자동 생성된 설명">
            <a:extLst>
              <a:ext uri="{FF2B5EF4-FFF2-40B4-BE49-F238E27FC236}">
                <a16:creationId xmlns:a16="http://schemas.microsoft.com/office/drawing/2014/main" id="{478A3468-EFA8-C302-743A-BAC73905F6A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2257" y="-194190"/>
            <a:ext cx="5189411" cy="704182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20DBA9D-08AE-89E7-BBFE-09471D4817CF}"/>
              </a:ext>
            </a:extLst>
          </p:cNvPr>
          <p:cNvSpPr txBox="1"/>
          <p:nvPr/>
        </p:nvSpPr>
        <p:spPr>
          <a:xfrm>
            <a:off x="8292823" y="2155449"/>
            <a:ext cx="373692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dirty="0">
                <a:solidFill>
                  <a:srgbClr val="E9713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THANK YOU</a:t>
            </a:r>
            <a:endParaRPr lang="ko-KR" altLang="en-US" sz="5000" dirty="0">
              <a:solidFill>
                <a:srgbClr val="E97132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129A678-87B2-A320-C88D-F6447ABA2CC4}"/>
              </a:ext>
            </a:extLst>
          </p:cNvPr>
          <p:cNvSpPr/>
          <p:nvPr/>
        </p:nvSpPr>
        <p:spPr>
          <a:xfrm>
            <a:off x="8220075" y="2950549"/>
            <a:ext cx="3704892" cy="66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7E41ED-E6A6-0BE5-5FE2-4D380D3E3EE5}"/>
              </a:ext>
            </a:extLst>
          </p:cNvPr>
          <p:cNvSpPr txBox="1"/>
          <p:nvPr/>
        </p:nvSpPr>
        <p:spPr>
          <a:xfrm>
            <a:off x="10443614" y="3036273"/>
            <a:ext cx="15071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2">
                    <a:lumMod val="2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416847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1073</Words>
  <Application>Microsoft Office PowerPoint</Application>
  <PresentationFormat>와이드스크린</PresentationFormat>
  <Paragraphs>168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6" baseType="lpstr">
      <vt:lpstr>Arial</vt:lpstr>
      <vt:lpstr>나눔고딕</vt:lpstr>
      <vt:lpstr>나눔스퀘어 ExtraBold</vt:lpstr>
      <vt:lpstr>나눔스퀘어 네오 Heavy</vt:lpstr>
      <vt:lpstr>나눔스퀘어_ac</vt:lpstr>
      <vt:lpstr>나눔스퀘어_ac Bold</vt:lpstr>
      <vt:lpstr>맑은 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MULTICAMPUS</dc:creator>
  <cp:lastModifiedBy>MULTICAMPUS</cp:lastModifiedBy>
  <cp:revision>2</cp:revision>
  <dcterms:created xsi:type="dcterms:W3CDTF">2026-06-16T06:10:36Z</dcterms:created>
  <dcterms:modified xsi:type="dcterms:W3CDTF">2026-06-16T06:21:13Z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