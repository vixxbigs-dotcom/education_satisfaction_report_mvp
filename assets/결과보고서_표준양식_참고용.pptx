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3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4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5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6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7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71" r:id="rId6"/>
    <p:sldId id="272" r:id="rId7"/>
    <p:sldId id="274" r:id="rId8"/>
    <p:sldId id="275" r:id="rId9"/>
    <p:sldId id="306" r:id="rId10"/>
    <p:sldId id="307" r:id="rId11"/>
    <p:sldId id="321" r:id="rId12"/>
    <p:sldId id="310" r:id="rId13"/>
    <p:sldId id="311" r:id="rId14"/>
    <p:sldId id="309" r:id="rId15"/>
    <p:sldId id="315" r:id="rId16"/>
    <p:sldId id="322" r:id="rId17"/>
    <p:sldId id="318" r:id="rId18"/>
  </p:sldIdLst>
  <p:sldSz cx="12192000" cy="6858000"/>
  <p:notesSz cx="6858000" cy="9144000"/>
  <p:embeddedFontLst>
    <p:embeddedFont>
      <p:font typeface="나눔고딕" pitchFamily="2" charset="-127"/>
      <p:regular r:id="rId21"/>
      <p:bold r:id="rId22"/>
    </p:embeddedFont>
    <p:embeddedFont>
      <p:font typeface="나눔스퀘어 ExtraBold" panose="020B0600000101010101" pitchFamily="50" charset="-127"/>
      <p:bold r:id="rId23"/>
    </p:embeddedFont>
    <p:embeddedFont>
      <p:font typeface="나눔스퀘어 네오 Heavy" panose="00000A00000000000000" pitchFamily="2" charset="-127"/>
      <p:bold r:id="rId24"/>
    </p:embeddedFont>
    <p:embeddedFont>
      <p:font typeface="나눔스퀘어_ac" panose="020B0600000101010101" pitchFamily="50" charset="-127"/>
      <p:regular r:id="rId25"/>
    </p:embeddedFont>
    <p:embeddedFont>
      <p:font typeface="나눔스퀘어_ac Bold" panose="020B0600000101010101" pitchFamily="50" charset="-127"/>
      <p:bold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  <p15:guide id="4" pos="73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E47325"/>
    <a:srgbClr val="EFAA7A"/>
    <a:srgbClr val="FFFFFF"/>
    <a:srgbClr val="DAB66C"/>
    <a:srgbClr val="B36367"/>
    <a:srgbClr val="606E80"/>
    <a:srgbClr val="C0504D"/>
    <a:srgbClr val="1A9640"/>
    <a:srgbClr val="EE9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3157" autoAdjust="0"/>
  </p:normalViewPr>
  <p:slideViewPr>
    <p:cSldViewPr snapToGrid="0">
      <p:cViewPr varScale="1">
        <p:scale>
          <a:sx n="98" d="100"/>
          <a:sy n="98" d="100"/>
        </p:scale>
        <p:origin x="72" y="192"/>
      </p:cViewPr>
      <p:guideLst>
        <p:guide orient="horz" pos="3974"/>
        <p:guide pos="257"/>
        <p:guide orient="horz" pos="754"/>
        <p:guide pos="73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3.9135564179514956E-2"/>
          <c:y val="1.7196936694171227E-2"/>
          <c:w val="0.94171557627170233"/>
          <c:h val="0.810211182818626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결과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78E-4278-95AF-FEC3F80831D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78E-4278-95AF-FEC3F80831D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78E-4278-95AF-FEC3F80831D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78E-4278-95AF-FEC3F80831D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78E-4278-95AF-FEC3F80831D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78E-4278-95AF-FEC3F80831DF}"/>
              </c:ext>
            </c:extLst>
          </c:dPt>
          <c:dLbls>
            <c:dLbl>
              <c:idx val="4"/>
              <c:layout>
                <c:manualLayout>
                  <c:x val="-1.0144560288309393E-16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78E-4278-95AF-FEC3F80831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전반적 만족도</c:v>
                </c:pt>
                <c:pt idx="1">
                  <c:v>추천도</c:v>
                </c:pt>
                <c:pt idx="2">
                  <c:v>교육일정</c:v>
                </c:pt>
                <c:pt idx="3">
                  <c:v>교육난이도</c:v>
                </c:pt>
                <c:pt idx="4">
                  <c:v>설상훈 교수
만족도 1-1</c:v>
                </c:pt>
                <c:pt idx="5">
                  <c:v>설상훈 교수
만족도 1-2</c:v>
                </c:pt>
                <c:pt idx="6">
                  <c:v>교육운영</c:v>
                </c:pt>
              </c:strCache>
            </c:strRef>
          </c:cat>
          <c:val>
            <c:numRef>
              <c:f>Sheet1!$B$2:$B$8</c:f>
              <c:numCache>
                <c:formatCode>0.0</c:formatCode>
                <c:ptCount val="7"/>
                <c:pt idx="0">
                  <c:v>4.9000000000000004</c:v>
                </c:pt>
                <c:pt idx="1">
                  <c:v>4.8</c:v>
                </c:pt>
                <c:pt idx="2">
                  <c:v>4.9000000000000004</c:v>
                </c:pt>
                <c:pt idx="3">
                  <c:v>4.8</c:v>
                </c:pt>
                <c:pt idx="4">
                  <c:v>4.9000000000000004</c:v>
                </c:pt>
                <c:pt idx="5">
                  <c:v>4.9000000000000004</c:v>
                </c:pt>
                <c:pt idx="6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78E-4278-95AF-FEC3F80831D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27"/>
        <c:axId val="1538380768"/>
        <c:axId val="1538379136"/>
      </c:barChart>
      <c:catAx>
        <c:axId val="1538380768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1538379136"/>
        <c:crosses val="autoZero"/>
        <c:auto val="0"/>
        <c:lblAlgn val="ctr"/>
        <c:lblOffset val="100"/>
        <c:noMultiLvlLbl val="0"/>
      </c:catAx>
      <c:valAx>
        <c:axId val="1538379136"/>
        <c:scaling>
          <c:orientation val="minMax"/>
          <c:max val="6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in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1538380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501525028669658E-2"/>
          <c:y val="5.3789939707716422E-2"/>
          <c:w val="0.89336589566929137"/>
          <c:h val="0.80319043856183314"/>
        </c:manualLayout>
      </c:layout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5E-450E-9A54-0D58053D9E5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5E-450E-9A54-0D58053D9E5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5E-450E-9A54-0D58053D9E5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05E-450E-9A54-0D58053D9E5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05E-450E-9A54-0D58053D9E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매우 그렇다</c:v>
                </c:pt>
                <c:pt idx="1">
                  <c:v>그렇다</c:v>
                </c:pt>
                <c:pt idx="2">
                  <c:v>보통이다</c:v>
                </c:pt>
                <c:pt idx="3">
                  <c:v>그렇지 않다</c:v>
                </c:pt>
                <c:pt idx="4">
                  <c:v>매우 그렇지 않다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05E-450E-9A54-0D58053D9E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7926816"/>
        <c:axId val="1537934432"/>
      </c:barChart>
      <c:catAx>
        <c:axId val="15379268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37934432"/>
        <c:crosses val="autoZero"/>
        <c:auto val="1"/>
        <c:lblAlgn val="ctr"/>
        <c:lblOffset val="100"/>
        <c:noMultiLvlLbl val="0"/>
      </c:catAx>
      <c:valAx>
        <c:axId val="1537934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153792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501525028669658E-2"/>
          <c:y val="5.3789939707716422E-2"/>
          <c:w val="0.89336589566929137"/>
          <c:h val="0.80319043856183314"/>
        </c:manualLayout>
      </c:layout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46E-492B-AA4E-8B9A9073D5B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46E-492B-AA4E-8B9A9073D5B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46E-492B-AA4E-8B9A9073D5B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46E-492B-AA4E-8B9A9073D5B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46E-492B-AA4E-8B9A9073D5B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매우 그렇다</c:v>
                </c:pt>
                <c:pt idx="1">
                  <c:v>그렇다</c:v>
                </c:pt>
                <c:pt idx="2">
                  <c:v>보통이다</c:v>
                </c:pt>
                <c:pt idx="3">
                  <c:v>그렇지 않다</c:v>
                </c:pt>
                <c:pt idx="4">
                  <c:v>매우 그렇지 않다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46E-492B-AA4E-8B9A9073D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7926816"/>
        <c:axId val="1537934432"/>
      </c:barChart>
      <c:catAx>
        <c:axId val="15379268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37934432"/>
        <c:crosses val="autoZero"/>
        <c:auto val="1"/>
        <c:lblAlgn val="ctr"/>
        <c:lblOffset val="100"/>
        <c:noMultiLvlLbl val="0"/>
      </c:catAx>
      <c:valAx>
        <c:axId val="1537934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153792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501525028669658E-2"/>
          <c:y val="5.3789939707716422E-2"/>
          <c:w val="0.89336589566929137"/>
          <c:h val="0.80319043856183314"/>
        </c:manualLayout>
      </c:layout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BB-4C9C-A06B-503915A7ED1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BB-4C9C-A06B-503915A7ED1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3BB-4C9C-A06B-503915A7ED1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3BB-4C9C-A06B-503915A7ED10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3BB-4C9C-A06B-503915A7ED1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매우 그렇다</c:v>
                </c:pt>
                <c:pt idx="1">
                  <c:v>그렇다</c:v>
                </c:pt>
                <c:pt idx="2">
                  <c:v>보통이다</c:v>
                </c:pt>
                <c:pt idx="3">
                  <c:v>그렇지 않다</c:v>
                </c:pt>
                <c:pt idx="4">
                  <c:v>매우 그렇지 않다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3BB-4C9C-A06B-503915A7ED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7926816"/>
        <c:axId val="1537934432"/>
      </c:barChart>
      <c:catAx>
        <c:axId val="15379268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37934432"/>
        <c:crosses val="autoZero"/>
        <c:auto val="1"/>
        <c:lblAlgn val="ctr"/>
        <c:lblOffset val="100"/>
        <c:noMultiLvlLbl val="0"/>
      </c:catAx>
      <c:valAx>
        <c:axId val="1537934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153792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501525028669658E-2"/>
          <c:y val="5.3789939707716422E-2"/>
          <c:w val="0.89336589566929137"/>
          <c:h val="0.80319043856183314"/>
        </c:manualLayout>
      </c:layout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566-48EC-A4C1-6629900E2EB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566-48EC-A4C1-6629900E2EB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566-48EC-A4C1-6629900E2EB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566-48EC-A4C1-6629900E2EB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566-48EC-A4C1-6629900E2EB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매우 그렇다</c:v>
                </c:pt>
                <c:pt idx="1">
                  <c:v>그렇다</c:v>
                </c:pt>
                <c:pt idx="2">
                  <c:v>보통이다</c:v>
                </c:pt>
                <c:pt idx="3">
                  <c:v>그렇지 않다</c:v>
                </c:pt>
                <c:pt idx="4">
                  <c:v>매우 그렇지 않다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566-48EC-A4C1-6629900E2E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7926816"/>
        <c:axId val="1537934432"/>
      </c:barChart>
      <c:catAx>
        <c:axId val="15379268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37934432"/>
        <c:crosses val="autoZero"/>
        <c:auto val="1"/>
        <c:lblAlgn val="ctr"/>
        <c:lblOffset val="100"/>
        <c:noMultiLvlLbl val="0"/>
      </c:catAx>
      <c:valAx>
        <c:axId val="1537934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153792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501525028669658E-2"/>
          <c:y val="5.3789939707716422E-2"/>
          <c:w val="0.89336589566929137"/>
          <c:h val="0.80319043856183314"/>
        </c:manualLayout>
      </c:layout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F7-4E4C-B71E-47B822710A9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FF7-4E4C-B71E-47B822710A9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FF7-4E4C-B71E-47B822710A9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FF7-4E4C-B71E-47B822710A9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FF7-4E4C-B71E-47B822710A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매우 그렇다</c:v>
                </c:pt>
                <c:pt idx="1">
                  <c:v>그렇다</c:v>
                </c:pt>
                <c:pt idx="2">
                  <c:v>보통이다</c:v>
                </c:pt>
                <c:pt idx="3">
                  <c:v>그렇지 않다</c:v>
                </c:pt>
                <c:pt idx="4">
                  <c:v>매우 그렇지 않다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FF7-4E4C-B71E-47B822710A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7926816"/>
        <c:axId val="1537934432"/>
      </c:barChart>
      <c:catAx>
        <c:axId val="15379268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37934432"/>
        <c:crosses val="autoZero"/>
        <c:auto val="1"/>
        <c:lblAlgn val="ctr"/>
        <c:lblOffset val="100"/>
        <c:noMultiLvlLbl val="0"/>
      </c:catAx>
      <c:valAx>
        <c:axId val="1537934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153792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501525028669658E-2"/>
          <c:y val="5.3789939707716422E-2"/>
          <c:w val="0.89336589566929137"/>
          <c:h val="0.80319043856183314"/>
        </c:manualLayout>
      </c:layout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7D1-4D14-903B-A747D383531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7D1-4D14-903B-A747D383531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7D1-4D14-903B-A747D383531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7D1-4D14-903B-A747D383531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7D1-4D14-903B-A747D38353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매우 그렇다</c:v>
                </c:pt>
                <c:pt idx="1">
                  <c:v>그렇다</c:v>
                </c:pt>
                <c:pt idx="2">
                  <c:v>보통이다</c:v>
                </c:pt>
                <c:pt idx="3">
                  <c:v>그렇지 않다</c:v>
                </c:pt>
                <c:pt idx="4">
                  <c:v>매우 그렇지 않다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7D1-4D14-903B-A747D38353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7926816"/>
        <c:axId val="1537934432"/>
      </c:barChart>
      <c:catAx>
        <c:axId val="15379268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37934432"/>
        <c:crosses val="autoZero"/>
        <c:auto val="1"/>
        <c:lblAlgn val="ctr"/>
        <c:lblOffset val="100"/>
        <c:noMultiLvlLbl val="0"/>
      </c:catAx>
      <c:valAx>
        <c:axId val="1537934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153792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501525028669658E-2"/>
          <c:y val="5.3789939707716422E-2"/>
          <c:w val="0.89336589566929137"/>
          <c:h val="0.80319043856183314"/>
        </c:manualLayout>
      </c:layout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8-4EA1-9687-6BBC9C86221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358-4EA1-9687-6BBC9C86221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alpha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8-4EA1-9687-6BBC9C86221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5D7-4ED1-B8A7-A0C6649BF57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5D7-4ED1-B8A7-A0C6649BF5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매우 그렇다</c:v>
                </c:pt>
                <c:pt idx="1">
                  <c:v>그렇다</c:v>
                </c:pt>
                <c:pt idx="2">
                  <c:v>보통이다</c:v>
                </c:pt>
                <c:pt idx="3">
                  <c:v>그렇지 않다</c:v>
                </c:pt>
                <c:pt idx="4">
                  <c:v>매우 그렇지 않다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58-4EA1-9687-6BBC9C8622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37926816"/>
        <c:axId val="1537934432"/>
      </c:barChart>
      <c:catAx>
        <c:axId val="15379268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37934432"/>
        <c:crosses val="autoZero"/>
        <c:auto val="1"/>
        <c:lblAlgn val="ctr"/>
        <c:lblOffset val="100"/>
        <c:noMultiLvlLbl val="0"/>
      </c:catAx>
      <c:valAx>
        <c:axId val="1537934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153792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0.0676</cdr:x>
      <cdr:y>0.188</cdr:y>
    </cdr:from>
    <cdr:to>
      <cdr:x>0.47631</cdr:x>
      <cdr:y>0.25383</cdr:y>
    </cdr:to>
    <cdr:sp macro="" textlink="">
      <cdr:nvSpPr>
        <cdr:cNvPr id="3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70781" y="878984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그렇다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0.0696</cdr:x>
      <cdr:y>0.34616</cdr:y>
    </cdr:from>
    <cdr:to>
      <cdr:x>0.4783</cdr:x>
      <cdr:y>0.41199</cdr:y>
    </cdr:to>
    <cdr:sp macro="" textlink="">
      <cdr:nvSpPr>
        <cdr:cNvPr id="4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93504" y="1618452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보통이다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0.0676</cdr:x>
      <cdr:y>0.188</cdr:y>
    </cdr:from>
    <cdr:to>
      <cdr:x>0.47631</cdr:x>
      <cdr:y>0.25383</cdr:y>
    </cdr:to>
    <cdr:sp macro="" textlink="">
      <cdr:nvSpPr>
        <cdr:cNvPr id="3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70781" y="878984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그렇다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0.0696</cdr:x>
      <cdr:y>0.34616</cdr:y>
    </cdr:from>
    <cdr:to>
      <cdr:x>0.4783</cdr:x>
      <cdr:y>0.41199</cdr:y>
    </cdr:to>
    <cdr:sp macro="" textlink="">
      <cdr:nvSpPr>
        <cdr:cNvPr id="4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93504" y="1618452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보통이다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0.0676</cdr:x>
      <cdr:y>0.188</cdr:y>
    </cdr:from>
    <cdr:to>
      <cdr:x>0.47631</cdr:x>
      <cdr:y>0.25383</cdr:y>
    </cdr:to>
    <cdr:sp macro="" textlink="">
      <cdr:nvSpPr>
        <cdr:cNvPr id="3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70781" y="878984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그렇다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0.0696</cdr:x>
      <cdr:y>0.34616</cdr:y>
    </cdr:from>
    <cdr:to>
      <cdr:x>0.4783</cdr:x>
      <cdr:y>0.41199</cdr:y>
    </cdr:to>
    <cdr:sp macro="" textlink="">
      <cdr:nvSpPr>
        <cdr:cNvPr id="4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93504" y="1618452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보통이다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0.0676</cdr:x>
      <cdr:y>0.188</cdr:y>
    </cdr:from>
    <cdr:to>
      <cdr:x>0.47631</cdr:x>
      <cdr:y>0.25383</cdr:y>
    </cdr:to>
    <cdr:sp macro="" textlink="">
      <cdr:nvSpPr>
        <cdr:cNvPr id="3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70781" y="878984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그렇다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0.0696</cdr:x>
      <cdr:y>0.34616</cdr:y>
    </cdr:from>
    <cdr:to>
      <cdr:x>0.4783</cdr:x>
      <cdr:y>0.41199</cdr:y>
    </cdr:to>
    <cdr:sp macro="" textlink="">
      <cdr:nvSpPr>
        <cdr:cNvPr id="4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93504" y="1618452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보통이다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0.0676</cdr:x>
      <cdr:y>0.188</cdr:y>
    </cdr:from>
    <cdr:to>
      <cdr:x>0.47631</cdr:x>
      <cdr:y>0.25383</cdr:y>
    </cdr:to>
    <cdr:sp macro="" textlink="">
      <cdr:nvSpPr>
        <cdr:cNvPr id="3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70781" y="878984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그렇다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0.0696</cdr:x>
      <cdr:y>0.34616</cdr:y>
    </cdr:from>
    <cdr:to>
      <cdr:x>0.4783</cdr:x>
      <cdr:y>0.41199</cdr:y>
    </cdr:to>
    <cdr:sp macro="" textlink="">
      <cdr:nvSpPr>
        <cdr:cNvPr id="4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93504" y="1618452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보통이다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0.0676</cdr:x>
      <cdr:y>0.188</cdr:y>
    </cdr:from>
    <cdr:to>
      <cdr:x>0.47631</cdr:x>
      <cdr:y>0.25383</cdr:y>
    </cdr:to>
    <cdr:sp macro="" textlink="">
      <cdr:nvSpPr>
        <cdr:cNvPr id="3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70781" y="878984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그렇다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0.0696</cdr:x>
      <cdr:y>0.34616</cdr:y>
    </cdr:from>
    <cdr:to>
      <cdr:x>0.4783</cdr:x>
      <cdr:y>0.41199</cdr:y>
    </cdr:to>
    <cdr:sp macro="" textlink="">
      <cdr:nvSpPr>
        <cdr:cNvPr id="4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93504" y="1618452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보통이다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0.0676</cdr:x>
      <cdr:y>0.188</cdr:y>
    </cdr:from>
    <cdr:to>
      <cdr:x>0.47631</cdr:x>
      <cdr:y>0.25383</cdr:y>
    </cdr:to>
    <cdr:sp macro="" textlink="">
      <cdr:nvSpPr>
        <cdr:cNvPr id="3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70781" y="878984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그렇다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0.0696</cdr:x>
      <cdr:y>0.34616</cdr:y>
    </cdr:from>
    <cdr:to>
      <cdr:x>0.4783</cdr:x>
      <cdr:y>0.41199</cdr:y>
    </cdr:to>
    <cdr:sp macro="" textlink="">
      <cdr:nvSpPr>
        <cdr:cNvPr id="4" name="TextBox 13">
          <a:extLst xmlns:a="http://schemas.openxmlformats.org/drawingml/2006/main">
            <a:ext uri="{FF2B5EF4-FFF2-40B4-BE49-F238E27FC236}">
              <a16:creationId xmlns:a16="http://schemas.microsoft.com/office/drawing/2014/main" id="{8AB0BF9B-DE80-611B-D5F2-FA5E1C775341}"/>
            </a:ext>
          </a:extLst>
        </cdr:cNvPr>
        <cdr:cNvSpPr txBox="1"/>
      </cdr:nvSpPr>
      <cdr:spPr>
        <a:xfrm xmlns:a="http://schemas.openxmlformats.org/drawingml/2006/main">
          <a:off x="793504" y="1618452"/>
          <a:ext cx="4659799" cy="3077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kern="0" dirty="0">
              <a:solidFill>
                <a:schemeClr val="bg2">
                  <a:lumMod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sym typeface="Arial"/>
            </a:rPr>
            <a:t>보통이다</a:t>
          </a:r>
          <a:endParaRPr lang="ko-KR" altLang="en-US" sz="1400" dirty="0">
            <a:solidFill>
              <a:schemeClr val="bg2">
                <a:lumMod val="25000"/>
              </a:schemeClr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05096-35E8-4E26-BB6B-BC9ADDC34792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E2E94-E55C-4F09-AB70-E4C589D4FD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3619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0EB9E-123F-4DBE-826E-A8AED6F59981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8EF84-070B-4398-8B0C-977E785212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3892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444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F1038-EC9D-E8A4-B49A-A9480F2AB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FF0C9E-921E-A25B-DB11-4559866B3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D040F7-3DC6-8785-2C79-2505C174D8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4945" y="6564444"/>
            <a:ext cx="1184579" cy="188203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FFF820E8-A982-A249-61D9-ACFB366C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F917AE3-B8AF-3713-3EA4-8BA1C6415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4724" y="6391800"/>
            <a:ext cx="4114800" cy="365125"/>
          </a:xfr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8041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56D4A-2C6D-CF73-DD10-52B65D76B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7B6D7-6A22-7392-9313-0337CDA3C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58553A-D80B-2497-FC7F-620FE85CF0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984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17B27-17A3-F614-60E0-A1F645713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357654-3FD5-8624-2F48-2CA83ACB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BE9C0F-BB10-6B8A-32C2-25B91641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 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15353CA1-A892-73AF-E6FA-75455CEF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8036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FF1C4-181B-A390-1D0E-3A8480CE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346129-79A9-CD41-41EB-8A4FEBAB2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43C780-E77C-FFCD-1AD8-AD9B2FC92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082460-5EB1-0985-C080-350513F1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817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7E84B-5496-F9B3-EBB7-129F75C8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DD8B69-BBDD-B6C0-7CCE-921B3249B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F68CA6-D461-10D6-05D2-77F5A377F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347159-CBB9-0329-7E5F-6BAA65377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DC8063-32AE-5DC9-C3BC-96DC45CEA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56D4DA1-2BB8-19B2-71A1-0EE5BC83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398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037DA-FC63-CCC7-1A69-3AFB3F63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145A0F-5ED2-B24C-4DD6-73453EB6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56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183FFD-AC69-7C89-14F0-AA51A4C274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699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93762-B7F2-107B-E91A-F9B967AA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ED04FF-9C37-0CB0-B373-F6C933087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D60EC3-C791-EFFB-E6E0-3C8C654A4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CF6E21-9173-C197-EB1E-CA8D1F95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38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4ABD1-C245-00A1-D8A2-D0DCEA2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A7397C-8789-06F1-0A9D-4F9705C7B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F09BF4-2D11-2E1F-85B3-5516F3FDA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A5385-C0CF-5B77-5E04-D15FDE00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82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2ED80-536F-27AE-6C43-C6B5323D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CC4F4C-C76C-803F-2B38-B9502EDF3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F57880-DA4F-6515-61B2-84865BFA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038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06F38B-B572-A0AB-6DC5-565000060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8DF231-923B-A9F3-E95C-20294D0C2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A01BA-69F7-191C-3DFA-9D1CACFF9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77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D88491-E54F-2850-BD24-DBEA2837B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ED0185-8934-A598-DD76-961BC6AF7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558506-506C-4E94-C2D9-113B75034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122CB9-970E-6B1D-2B1E-B749FFE29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47373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ko-KR" altLang="en-US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0522D7-895B-F0FC-1A3B-F0DDC736865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0015" y="6444811"/>
            <a:ext cx="1184579" cy="18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8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0E5246-1B1F-E499-3D6F-B22450ED7F5F}"/>
              </a:ext>
            </a:extLst>
          </p:cNvPr>
          <p:cNvSpPr/>
          <p:nvPr/>
        </p:nvSpPr>
        <p:spPr>
          <a:xfrm>
            <a:off x="2" y="-2603"/>
            <a:ext cx="5618375" cy="6847632"/>
          </a:xfrm>
          <a:prstGeom prst="rect">
            <a:avLst/>
          </a:prstGeom>
          <a:solidFill>
            <a:schemeClr val="bg1">
              <a:lumMod val="8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 descr="클립아트, 스크린샷, 만화 영화, 일러스트레이션이(가) 표시된 사진&#10;&#10;자동 생성된 설명">
            <a:extLst>
              <a:ext uri="{FF2B5EF4-FFF2-40B4-BE49-F238E27FC236}">
                <a16:creationId xmlns:a16="http://schemas.microsoft.com/office/drawing/2014/main" id="{C39015AA-D980-F614-4243-3D6B282AA18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257" y="-194190"/>
            <a:ext cx="5189411" cy="704182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B560A60-DA20-EE08-2009-FD1526411B9B}"/>
              </a:ext>
            </a:extLst>
          </p:cNvPr>
          <p:cNvSpPr/>
          <p:nvPr/>
        </p:nvSpPr>
        <p:spPr>
          <a:xfrm>
            <a:off x="5618377" y="-5207"/>
            <a:ext cx="6573623" cy="69352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70684-79BC-4D5E-B4B1-A1B0B05DF774}"/>
              </a:ext>
            </a:extLst>
          </p:cNvPr>
          <p:cNvSpPr txBox="1"/>
          <p:nvPr/>
        </p:nvSpPr>
        <p:spPr>
          <a:xfrm>
            <a:off x="6164677" y="2803501"/>
            <a:ext cx="58073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13">
              <a:defRPr/>
            </a:pPr>
            <a:r>
              <a:rPr lang="en-US" altLang="ko-KR" sz="3200" spc="50" dirty="0">
                <a:solidFill>
                  <a:srgbClr val="E971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3200" spc="50" dirty="0">
                <a:solidFill>
                  <a:srgbClr val="E971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맑은 고딕 Semilight" panose="020B0502040204020203" pitchFamily="50" charset="-127"/>
              </a:rPr>
              <a:t>과정 이름</a:t>
            </a:r>
            <a:r>
              <a:rPr lang="en-US" altLang="ko-KR" sz="3200" spc="50" dirty="0">
                <a:solidFill>
                  <a:srgbClr val="E971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맑은 고딕 Semilight" panose="020B0502040204020203" pitchFamily="50" charset="-127"/>
              </a:rPr>
              <a:t>]</a:t>
            </a:r>
          </a:p>
          <a:p>
            <a:pPr defTabSz="457213">
              <a:defRPr/>
            </a:pPr>
            <a:r>
              <a:rPr lang="ko-KR" altLang="en-US" sz="3200" spc="50" dirty="0">
                <a:solidFill>
                  <a:srgbClr val="E971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맑은 고딕 Semilight" panose="020B0502040204020203" pitchFamily="50" charset="-127"/>
              </a:rPr>
              <a:t>결과보고서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B88236F-C8E1-0674-CD31-83C07239D503}"/>
              </a:ext>
            </a:extLst>
          </p:cNvPr>
          <p:cNvGrpSpPr/>
          <p:nvPr/>
        </p:nvGrpSpPr>
        <p:grpSpPr>
          <a:xfrm>
            <a:off x="1" y="0"/>
            <a:ext cx="5231903" cy="72000"/>
            <a:chOff x="3647728" y="116632"/>
            <a:chExt cx="5327910" cy="3693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81A17F0-0594-1531-20C9-2E76ADD96970}"/>
                </a:ext>
              </a:extLst>
            </p:cNvPr>
            <p:cNvSpPr/>
            <p:nvPr/>
          </p:nvSpPr>
          <p:spPr>
            <a:xfrm>
              <a:off x="3647728" y="116632"/>
              <a:ext cx="1620180" cy="369332"/>
            </a:xfrm>
            <a:prstGeom prst="rect">
              <a:avLst/>
            </a:prstGeom>
            <a:solidFill>
              <a:srgbClr val="C31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3F30DE0-DF05-6DF6-826F-80C65F8D8574}"/>
                </a:ext>
              </a:extLst>
            </p:cNvPr>
            <p:cNvSpPr/>
            <p:nvPr/>
          </p:nvSpPr>
          <p:spPr>
            <a:xfrm>
              <a:off x="4722343" y="116632"/>
              <a:ext cx="4253295" cy="369332"/>
            </a:xfrm>
            <a:prstGeom prst="rect">
              <a:avLst/>
            </a:prstGeom>
            <a:solidFill>
              <a:srgbClr val="E473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090522D7-895B-F0FC-1A3B-F0DDC73686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0015" y="6444811"/>
            <a:ext cx="1184579" cy="18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3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7CB8F-91A7-8F4B-5A61-DEBD1712B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560A60-DA20-EE08-2009-FD1526411B9B}"/>
              </a:ext>
            </a:extLst>
          </p:cNvPr>
          <p:cNvSpPr/>
          <p:nvPr/>
        </p:nvSpPr>
        <p:spPr>
          <a:xfrm>
            <a:off x="5618377" y="-7219"/>
            <a:ext cx="65736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F6490A8-DBA8-F71A-F1E5-A95F0CD8F686}"/>
              </a:ext>
            </a:extLst>
          </p:cNvPr>
          <p:cNvSpPr/>
          <p:nvPr/>
        </p:nvSpPr>
        <p:spPr>
          <a:xfrm>
            <a:off x="2" y="0"/>
            <a:ext cx="5618375" cy="6883923"/>
          </a:xfrm>
          <a:prstGeom prst="rect">
            <a:avLst/>
          </a:prstGeom>
          <a:solidFill>
            <a:schemeClr val="bg1">
              <a:lumMod val="8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 descr="클립아트, 스크린샷, 만화 영화, 일러스트레이션이(가) 표시된 사진&#10;&#10;자동 생성된 설명">
            <a:extLst>
              <a:ext uri="{FF2B5EF4-FFF2-40B4-BE49-F238E27FC236}">
                <a16:creationId xmlns:a16="http://schemas.microsoft.com/office/drawing/2014/main" id="{324948FF-EA66-C93C-35D8-9FC9BC56808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257" y="-194190"/>
            <a:ext cx="5189411" cy="70418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217422-599B-B7DB-9E93-EFD7A7A4DAB9}"/>
              </a:ext>
            </a:extLst>
          </p:cNvPr>
          <p:cNvSpPr txBox="1"/>
          <p:nvPr/>
        </p:nvSpPr>
        <p:spPr>
          <a:xfrm>
            <a:off x="6031806" y="556524"/>
            <a:ext cx="9406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>
                <a:solidFill>
                  <a:srgbClr val="E971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목차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55CA6BE-1E39-2AF8-5512-19661809F377}"/>
              </a:ext>
            </a:extLst>
          </p:cNvPr>
          <p:cNvGrpSpPr/>
          <p:nvPr/>
        </p:nvGrpSpPr>
        <p:grpSpPr>
          <a:xfrm>
            <a:off x="6502148" y="1262705"/>
            <a:ext cx="1827904" cy="400110"/>
            <a:chOff x="6538676" y="2460395"/>
            <a:chExt cx="1827905" cy="40011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95D55ED-49C6-B723-CE29-10BC4491A795}"/>
                </a:ext>
              </a:extLst>
            </p:cNvPr>
            <p:cNvSpPr txBox="1"/>
            <p:nvPr/>
          </p:nvSpPr>
          <p:spPr>
            <a:xfrm>
              <a:off x="6538676" y="2469822"/>
              <a:ext cx="603316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E97132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01</a:t>
              </a:r>
              <a:endParaRPr lang="ko-KR" altLang="en-US" dirty="0">
                <a:solidFill>
                  <a:srgbClr val="E971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E73E0E-84F0-3EAA-1401-9C411DC15114}"/>
                </a:ext>
              </a:extLst>
            </p:cNvPr>
            <p:cNvSpPr txBox="1"/>
            <p:nvPr/>
          </p:nvSpPr>
          <p:spPr>
            <a:xfrm>
              <a:off x="7232936" y="2460395"/>
              <a:ext cx="1133645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solidFill>
                    <a:srgbClr val="E97132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교육 개요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54BDBC2-D997-867A-53D5-A1E56BD03DB5}"/>
              </a:ext>
            </a:extLst>
          </p:cNvPr>
          <p:cNvGrpSpPr/>
          <p:nvPr/>
        </p:nvGrpSpPr>
        <p:grpSpPr>
          <a:xfrm>
            <a:off x="6502147" y="2988957"/>
            <a:ext cx="2070162" cy="400110"/>
            <a:chOff x="6503436" y="3954638"/>
            <a:chExt cx="2070163" cy="40010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1EDB40-2D22-2604-E3CE-0E30848B710D}"/>
                </a:ext>
              </a:extLst>
            </p:cNvPr>
            <p:cNvSpPr txBox="1"/>
            <p:nvPr/>
          </p:nvSpPr>
          <p:spPr>
            <a:xfrm>
              <a:off x="6503436" y="3970027"/>
              <a:ext cx="603316" cy="3693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E97132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02</a:t>
              </a:r>
              <a:endParaRPr lang="ko-KR" altLang="en-US" dirty="0">
                <a:solidFill>
                  <a:srgbClr val="E9713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72CF07-ACAC-4E0E-035A-5E26F3C73CE7}"/>
                </a:ext>
              </a:extLst>
            </p:cNvPr>
            <p:cNvSpPr txBox="1"/>
            <p:nvPr/>
          </p:nvSpPr>
          <p:spPr>
            <a:xfrm>
              <a:off x="7218740" y="3954638"/>
              <a:ext cx="135485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solidFill>
                    <a:srgbClr val="E97132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</a:rPr>
                <a:t>만족도 통계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99D2255-8165-BF73-F6F5-B664BA211FC3}"/>
              </a:ext>
            </a:extLst>
          </p:cNvPr>
          <p:cNvSpPr txBox="1"/>
          <p:nvPr/>
        </p:nvSpPr>
        <p:spPr>
          <a:xfrm>
            <a:off x="7217451" y="1641463"/>
            <a:ext cx="123944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1" indent="-342891">
              <a:lnSpc>
                <a:spcPct val="150000"/>
              </a:lnSpc>
              <a:buAutoNum type="arabicParenR"/>
            </a:pPr>
            <a:r>
              <a:rPr lang="ko-KR" altLang="en-US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교육 개요</a:t>
            </a:r>
            <a:endParaRPr lang="en-US" altLang="ko-KR" sz="15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891" indent="-342891">
              <a:lnSpc>
                <a:spcPct val="150000"/>
              </a:lnSpc>
              <a:buAutoNum type="arabicParenR"/>
            </a:pPr>
            <a:r>
              <a:rPr lang="ko-KR" altLang="en-US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커리큘럼</a:t>
            </a:r>
            <a:endParaRPr lang="en-US" altLang="ko-KR" sz="15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EC6755-4713-687A-A0A9-590E6398E417}"/>
              </a:ext>
            </a:extLst>
          </p:cNvPr>
          <p:cNvSpPr txBox="1"/>
          <p:nvPr/>
        </p:nvSpPr>
        <p:spPr>
          <a:xfrm>
            <a:off x="7217451" y="3403446"/>
            <a:ext cx="1782860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1" indent="-342891">
              <a:lnSpc>
                <a:spcPct val="150000"/>
              </a:lnSpc>
              <a:buAutoNum type="arabicParenR"/>
            </a:pPr>
            <a:r>
              <a:rPr lang="ko-KR" altLang="en-US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설문 구성</a:t>
            </a:r>
            <a:endParaRPr lang="en-US" altLang="ko-KR" sz="15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891" indent="-342891">
              <a:lnSpc>
                <a:spcPct val="150000"/>
              </a:lnSpc>
              <a:buAutoNum type="arabicParenR"/>
            </a:pPr>
            <a:r>
              <a:rPr lang="ko-KR" altLang="en-US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객관식 설문 결과</a:t>
            </a:r>
            <a:endParaRPr lang="en-US" altLang="ko-KR" sz="15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891" indent="-342891">
              <a:lnSpc>
                <a:spcPct val="150000"/>
              </a:lnSpc>
              <a:buAutoNum type="arabicParenR"/>
            </a:pPr>
            <a:r>
              <a:rPr lang="ko-KR" altLang="en-US" sz="15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주관식 설문 결과</a:t>
            </a:r>
            <a:endParaRPr lang="en-US" altLang="ko-KR" sz="15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B88236F-C8E1-0674-CD31-83C07239D503}"/>
              </a:ext>
            </a:extLst>
          </p:cNvPr>
          <p:cNvGrpSpPr/>
          <p:nvPr/>
        </p:nvGrpSpPr>
        <p:grpSpPr>
          <a:xfrm>
            <a:off x="1" y="0"/>
            <a:ext cx="5231903" cy="72000"/>
            <a:chOff x="3647728" y="116632"/>
            <a:chExt cx="5327910" cy="36933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81A17F0-0594-1531-20C9-2E76ADD96970}"/>
                </a:ext>
              </a:extLst>
            </p:cNvPr>
            <p:cNvSpPr/>
            <p:nvPr/>
          </p:nvSpPr>
          <p:spPr>
            <a:xfrm>
              <a:off x="3647728" y="116632"/>
              <a:ext cx="1620180" cy="369332"/>
            </a:xfrm>
            <a:prstGeom prst="rect">
              <a:avLst/>
            </a:prstGeom>
            <a:solidFill>
              <a:srgbClr val="C31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3F30DE0-DF05-6DF6-826F-80C65F8D8574}"/>
                </a:ext>
              </a:extLst>
            </p:cNvPr>
            <p:cNvSpPr/>
            <p:nvPr/>
          </p:nvSpPr>
          <p:spPr>
            <a:xfrm>
              <a:off x="4722343" y="116632"/>
              <a:ext cx="4253295" cy="369332"/>
            </a:xfrm>
            <a:prstGeom prst="rect">
              <a:avLst/>
            </a:prstGeom>
            <a:solidFill>
              <a:srgbClr val="E473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090522D7-895B-F0FC-1A3B-F0DDC73686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0015" y="6444811"/>
            <a:ext cx="1184579" cy="18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53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91DDD-AB17-BD47-4310-2012EAA9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B560A60-DA20-EE08-2009-FD1526411B9B}"/>
              </a:ext>
            </a:extLst>
          </p:cNvPr>
          <p:cNvSpPr/>
          <p:nvPr/>
        </p:nvSpPr>
        <p:spPr>
          <a:xfrm>
            <a:off x="5618377" y="6824"/>
            <a:ext cx="65736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97132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F65612-DF46-9C36-EF91-A8E506DC6FB1}"/>
              </a:ext>
            </a:extLst>
          </p:cNvPr>
          <p:cNvSpPr/>
          <p:nvPr/>
        </p:nvSpPr>
        <p:spPr>
          <a:xfrm>
            <a:off x="2" y="6824"/>
            <a:ext cx="5618375" cy="6847633"/>
          </a:xfrm>
          <a:prstGeom prst="rect">
            <a:avLst/>
          </a:prstGeom>
          <a:solidFill>
            <a:schemeClr val="bg1">
              <a:lumMod val="8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 descr="클립아트, 스크린샷, 만화 영화, 일러스트레이션이(가) 표시된 사진&#10;&#10;자동 생성된 설명">
            <a:extLst>
              <a:ext uri="{FF2B5EF4-FFF2-40B4-BE49-F238E27FC236}">
                <a16:creationId xmlns:a16="http://schemas.microsoft.com/office/drawing/2014/main" id="{AC45054E-1744-1F5E-245F-E11FC7F8B56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257" y="-201014"/>
            <a:ext cx="5189411" cy="70418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0EDFCC6-B0B8-98F5-1697-32E549249137}"/>
              </a:ext>
            </a:extLst>
          </p:cNvPr>
          <p:cNvSpPr txBox="1"/>
          <p:nvPr/>
        </p:nvSpPr>
        <p:spPr>
          <a:xfrm>
            <a:off x="6096002" y="2069724"/>
            <a:ext cx="20457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</a:t>
            </a:r>
            <a:r>
              <a:rPr lang="ko-KR" altLang="en-US" sz="3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교육 개요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D42E1F-F7AE-5834-1BD5-0CB0127EAD5C}"/>
              </a:ext>
            </a:extLst>
          </p:cNvPr>
          <p:cNvSpPr txBox="1"/>
          <p:nvPr/>
        </p:nvSpPr>
        <p:spPr>
          <a:xfrm>
            <a:off x="6573627" y="2725483"/>
            <a:ext cx="14798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1" indent="-342891">
              <a:lnSpc>
                <a:spcPct val="150000"/>
              </a:lnSpc>
              <a:buAutoNum type="arabicParenR"/>
            </a:pP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교육 개요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891" indent="-342891">
              <a:lnSpc>
                <a:spcPct val="150000"/>
              </a:lnSpc>
              <a:buAutoNum type="arabicParenR"/>
            </a:pP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커리큘럼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B88236F-C8E1-0674-CD31-83C07239D503}"/>
              </a:ext>
            </a:extLst>
          </p:cNvPr>
          <p:cNvGrpSpPr/>
          <p:nvPr/>
        </p:nvGrpSpPr>
        <p:grpSpPr>
          <a:xfrm>
            <a:off x="1" y="0"/>
            <a:ext cx="5231903" cy="72000"/>
            <a:chOff x="3647728" y="116632"/>
            <a:chExt cx="5327910" cy="36933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81A17F0-0594-1531-20C9-2E76ADD96970}"/>
                </a:ext>
              </a:extLst>
            </p:cNvPr>
            <p:cNvSpPr/>
            <p:nvPr/>
          </p:nvSpPr>
          <p:spPr>
            <a:xfrm>
              <a:off x="3647728" y="116632"/>
              <a:ext cx="1620180" cy="369332"/>
            </a:xfrm>
            <a:prstGeom prst="rect">
              <a:avLst/>
            </a:prstGeom>
            <a:solidFill>
              <a:srgbClr val="C31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3F30DE0-DF05-6DF6-826F-80C65F8D8574}"/>
                </a:ext>
              </a:extLst>
            </p:cNvPr>
            <p:cNvSpPr/>
            <p:nvPr/>
          </p:nvSpPr>
          <p:spPr>
            <a:xfrm>
              <a:off x="4722343" y="116632"/>
              <a:ext cx="4253295" cy="369332"/>
            </a:xfrm>
            <a:prstGeom prst="rect">
              <a:avLst/>
            </a:prstGeom>
            <a:solidFill>
              <a:srgbClr val="E473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090522D7-895B-F0FC-1A3B-F0DDC73686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0015" y="6444811"/>
            <a:ext cx="1184579" cy="18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62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F3F-2325-8B18-FB16-2B54C294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BCB5673-801F-F878-03FF-4CA292794CA1}"/>
              </a:ext>
            </a:extLst>
          </p:cNvPr>
          <p:cNvSpPr/>
          <p:nvPr/>
        </p:nvSpPr>
        <p:spPr>
          <a:xfrm flipV="1">
            <a:off x="2360299" y="659875"/>
            <a:ext cx="9831701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370A0B9-BA74-D70B-F1FA-0A77C0F00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937236"/>
              </p:ext>
            </p:extLst>
          </p:nvPr>
        </p:nvGraphicFramePr>
        <p:xfrm>
          <a:off x="420467" y="1207779"/>
          <a:ext cx="11206673" cy="5100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1386">
                  <a:extLst>
                    <a:ext uri="{9D8B030D-6E8A-4147-A177-3AD203B41FA5}">
                      <a16:colId xmlns:a16="http://schemas.microsoft.com/office/drawing/2014/main" val="1545340149"/>
                    </a:ext>
                  </a:extLst>
                </a:gridCol>
                <a:gridCol w="9225287">
                  <a:extLst>
                    <a:ext uri="{9D8B030D-6E8A-4147-A177-3AD203B41FA5}">
                      <a16:colId xmlns:a16="http://schemas.microsoft.com/office/drawing/2014/main" val="3899072727"/>
                    </a:ext>
                  </a:extLst>
                </a:gridCol>
              </a:tblGrid>
              <a:tr h="1020189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과정명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73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6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6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과정명</a:t>
                      </a:r>
                      <a:r>
                        <a:rPr lang="en-US" altLang="ko-KR" sz="16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600" kern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1"/>
                        </a:gradFill>
                        <a:latin typeface="나눔스퀘어 네오 Heavy" panose="00000A00000000000000" pitchFamily="2" charset="-127"/>
                        <a:ea typeface="나눔스퀘어 네오 Heavy" panose="00000A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1055799"/>
                  </a:ext>
                </a:extLst>
              </a:tr>
              <a:tr h="1020189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교육일정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73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 [</a:t>
                      </a:r>
                      <a:r>
                        <a:rPr lang="ko-KR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일정</a:t>
                      </a:r>
                      <a:r>
                        <a:rPr lang="en-US" altLang="ko-K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]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4227553"/>
                  </a:ext>
                </a:extLst>
              </a:tr>
              <a:tr h="1020189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교육방식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7325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[</a:t>
                      </a:r>
                      <a:r>
                        <a:rPr lang="ko-KR" altLang="en-US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비대면</a:t>
                      </a:r>
                      <a:r>
                        <a:rPr lang="en-US" altLang="ko-K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대면 교육</a:t>
                      </a:r>
                      <a:r>
                        <a:rPr lang="en-US" altLang="ko-K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]</a:t>
                      </a:r>
                      <a:endParaRPr lang="ko-KR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4351898"/>
                  </a:ext>
                </a:extLst>
              </a:tr>
              <a:tr h="1020189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교육 대상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7325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en-US" altLang="ko-K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[00</a:t>
                      </a:r>
                      <a:r>
                        <a:rPr lang="ko-KR" alt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명</a:t>
                      </a:r>
                      <a:r>
                        <a:rPr lang="en-US" altLang="ko-KR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]</a:t>
                      </a:r>
                      <a:endParaRPr lang="ko-KR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1756087"/>
                  </a:ext>
                </a:extLst>
              </a:tr>
              <a:tr h="1020189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교육 목표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73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6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6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교육 목표</a:t>
                      </a:r>
                      <a:r>
                        <a:rPr lang="en-US" altLang="ko-KR" sz="16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994869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2B88236F-C8E1-0674-CD31-83C07239D503}"/>
              </a:ext>
            </a:extLst>
          </p:cNvPr>
          <p:cNvGrpSpPr/>
          <p:nvPr/>
        </p:nvGrpSpPr>
        <p:grpSpPr>
          <a:xfrm>
            <a:off x="1" y="0"/>
            <a:ext cx="5231903" cy="72000"/>
            <a:chOff x="3647728" y="116632"/>
            <a:chExt cx="5327910" cy="36933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81A17F0-0594-1531-20C9-2E76ADD96970}"/>
                </a:ext>
              </a:extLst>
            </p:cNvPr>
            <p:cNvSpPr/>
            <p:nvPr/>
          </p:nvSpPr>
          <p:spPr>
            <a:xfrm>
              <a:off x="3647728" y="116632"/>
              <a:ext cx="1620180" cy="369332"/>
            </a:xfrm>
            <a:prstGeom prst="rect">
              <a:avLst/>
            </a:prstGeom>
            <a:solidFill>
              <a:srgbClr val="C316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3F30DE0-DF05-6DF6-826F-80C65F8D8574}"/>
                </a:ext>
              </a:extLst>
            </p:cNvPr>
            <p:cNvSpPr/>
            <p:nvPr/>
          </p:nvSpPr>
          <p:spPr>
            <a:xfrm>
              <a:off x="4722343" y="116632"/>
              <a:ext cx="4253295" cy="369332"/>
            </a:xfrm>
            <a:prstGeom prst="rect">
              <a:avLst/>
            </a:prstGeom>
            <a:solidFill>
              <a:srgbClr val="E473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A15752B-1211-EAB2-BC5D-D5CAF5DE54EA}"/>
              </a:ext>
            </a:extLst>
          </p:cNvPr>
          <p:cNvSpPr txBox="1"/>
          <p:nvPr/>
        </p:nvSpPr>
        <p:spPr>
          <a:xfrm>
            <a:off x="10845164" y="252835"/>
            <a:ext cx="1275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교육 개요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7F6C5B-D93C-890D-E09D-59AC0E26F3CF}"/>
              </a:ext>
            </a:extLst>
          </p:cNvPr>
          <p:cNvSpPr txBox="1"/>
          <p:nvPr/>
        </p:nvSpPr>
        <p:spPr>
          <a:xfrm>
            <a:off x="10561563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01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1C8946-99D0-3543-B344-C5ADDBA6A589}"/>
              </a:ext>
            </a:extLst>
          </p:cNvPr>
          <p:cNvSpPr txBox="1"/>
          <p:nvPr/>
        </p:nvSpPr>
        <p:spPr>
          <a:xfrm>
            <a:off x="194825" y="319237"/>
            <a:ext cx="20617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교육 개요</a:t>
            </a:r>
          </a:p>
        </p:txBody>
      </p:sp>
    </p:spTree>
    <p:extLst>
      <p:ext uri="{BB962C8B-B14F-4D97-AF65-F5344CB8AC3E}">
        <p14:creationId xmlns:p14="http://schemas.microsoft.com/office/powerpoint/2010/main" val="183339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2A505-1145-1C10-8C64-39AB24B2E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B560A60-DA20-EE08-2009-FD1526411B9B}"/>
              </a:ext>
            </a:extLst>
          </p:cNvPr>
          <p:cNvSpPr/>
          <p:nvPr/>
        </p:nvSpPr>
        <p:spPr>
          <a:xfrm>
            <a:off x="5618377" y="6824"/>
            <a:ext cx="65736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ADD2AA-B235-F7C1-96E1-503AA4D61ADA}"/>
              </a:ext>
            </a:extLst>
          </p:cNvPr>
          <p:cNvSpPr/>
          <p:nvPr/>
        </p:nvSpPr>
        <p:spPr>
          <a:xfrm>
            <a:off x="2" y="13648"/>
            <a:ext cx="5618375" cy="6847633"/>
          </a:xfrm>
          <a:prstGeom prst="rect">
            <a:avLst/>
          </a:prstGeom>
          <a:solidFill>
            <a:schemeClr val="bg1">
              <a:lumMod val="8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 descr="클립아트, 스크린샷, 만화 영화, 일러스트레이션이(가) 표시된 사진&#10;&#10;자동 생성된 설명">
            <a:extLst>
              <a:ext uri="{FF2B5EF4-FFF2-40B4-BE49-F238E27FC236}">
                <a16:creationId xmlns:a16="http://schemas.microsoft.com/office/drawing/2014/main" id="{2C9AB69D-012F-5B16-590C-1CD776412C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257" y="-201014"/>
            <a:ext cx="5189411" cy="70418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B5B9389-A9A4-9803-1D40-7746574F22A0}"/>
              </a:ext>
            </a:extLst>
          </p:cNvPr>
          <p:cNvSpPr txBox="1"/>
          <p:nvPr/>
        </p:nvSpPr>
        <p:spPr>
          <a:xfrm>
            <a:off x="6096001" y="2069724"/>
            <a:ext cx="237597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</a:t>
            </a:r>
            <a:r>
              <a:rPr lang="ko-KR" altLang="en-US" sz="3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E33612-2CDC-759A-22D2-A63C5A1A7030}"/>
              </a:ext>
            </a:extLst>
          </p:cNvPr>
          <p:cNvSpPr txBox="1"/>
          <p:nvPr/>
        </p:nvSpPr>
        <p:spPr>
          <a:xfrm>
            <a:off x="6573627" y="2725483"/>
            <a:ext cx="22076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1" indent="-342891">
              <a:lnSpc>
                <a:spcPct val="150000"/>
              </a:lnSpc>
              <a:buAutoNum type="arabicParenR"/>
            </a:pP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설문 구성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891" indent="-342891">
              <a:lnSpc>
                <a:spcPct val="150000"/>
              </a:lnSpc>
              <a:buAutoNum type="arabicParenR"/>
            </a:pP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객관식 설문 결과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891" indent="-342891">
              <a:lnSpc>
                <a:spcPct val="150000"/>
              </a:lnSpc>
              <a:buAutoNum type="arabicParenR"/>
            </a:pP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주관식 설문 결과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90522D7-895B-F0FC-1A3B-F0DDC73686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0015" y="6444811"/>
            <a:ext cx="1184579" cy="18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6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2D982-1D36-630D-EAD5-D2DE5FBE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FD1C8946-99D0-3543-B344-C5ADDBA6A589}"/>
              </a:ext>
            </a:extLst>
          </p:cNvPr>
          <p:cNvSpPr txBox="1"/>
          <p:nvPr/>
        </p:nvSpPr>
        <p:spPr>
          <a:xfrm>
            <a:off x="194825" y="319237"/>
            <a:ext cx="20617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설문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011332-F7F8-6DBE-C1A5-C6DCFF4F57B7}"/>
              </a:ext>
            </a:extLst>
          </p:cNvPr>
          <p:cNvSpPr/>
          <p:nvPr/>
        </p:nvSpPr>
        <p:spPr>
          <a:xfrm flipV="1">
            <a:off x="2360299" y="659875"/>
            <a:ext cx="9831701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77379-7016-3BEE-3167-AE9AB4B32C6C}"/>
              </a:ext>
            </a:extLst>
          </p:cNvPr>
          <p:cNvSpPr txBox="1"/>
          <p:nvPr/>
        </p:nvSpPr>
        <p:spPr>
          <a:xfrm>
            <a:off x="10739499" y="262071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0BC53E7-02A1-B92B-C7EF-E0825BEBD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410396"/>
              </p:ext>
            </p:extLst>
          </p:nvPr>
        </p:nvGraphicFramePr>
        <p:xfrm>
          <a:off x="407988" y="1196972"/>
          <a:ext cx="11196637" cy="51117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7222">
                  <a:extLst>
                    <a:ext uri="{9D8B030D-6E8A-4147-A177-3AD203B41FA5}">
                      <a16:colId xmlns:a16="http://schemas.microsoft.com/office/drawing/2014/main" val="1545340149"/>
                    </a:ext>
                  </a:extLst>
                </a:gridCol>
                <a:gridCol w="8589415">
                  <a:extLst>
                    <a:ext uri="{9D8B030D-6E8A-4147-A177-3AD203B41FA5}">
                      <a16:colId xmlns:a16="http://schemas.microsoft.com/office/drawing/2014/main" val="3899072727"/>
                    </a:ext>
                  </a:extLst>
                </a:gridCol>
              </a:tblGrid>
              <a:tr h="33030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500" dirty="0">
                          <a:solidFill>
                            <a:schemeClr val="bg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500" spc="0" dirty="0">
                          <a:solidFill>
                            <a:schemeClr val="bg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문항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24441"/>
                  </a:ext>
                </a:extLst>
              </a:tr>
              <a:tr h="5312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전반적 만족도</a:t>
                      </a:r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</a:p>
                  </a:txBody>
                  <a:tcPr marL="72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1. 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본 교육에 전반적으로 만족하십니까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1055799"/>
                  </a:ext>
                </a:extLst>
              </a:tr>
              <a:tr h="5312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추천도</a:t>
                      </a:r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</a:p>
                  </a:txBody>
                  <a:tcPr marL="72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2. 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본 교육을 동료에게 추천하시겠습니까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4227553"/>
                  </a:ext>
                </a:extLst>
              </a:tr>
              <a:tr h="5312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교육일정</a:t>
                      </a:r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</a:p>
                  </a:txBody>
                  <a:tcPr marL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3. 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본 교육의 교육일정 및 시간은 적절하다고 생각하십니까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?</a:t>
                      </a:r>
                    </a:p>
                  </a:txBody>
                  <a:tcPr marL="720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644387"/>
                  </a:ext>
                </a:extLst>
              </a:tr>
              <a:tr h="5312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교육 난이도</a:t>
                      </a:r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</a:p>
                  </a:txBody>
                  <a:tcPr marL="72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4. 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본 교육의 난이도는 적절하다고 생각하십니까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9330813"/>
                  </a:ext>
                </a:extLst>
              </a:tr>
              <a:tr h="53127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강사</a:t>
                      </a:r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</a:p>
                  </a:txBody>
                  <a:tcPr marL="72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5. [</a:t>
                      </a:r>
                      <a:r>
                        <a:rPr lang="ko-KR" altLang="en-US" sz="1200" b="0" kern="0" spc="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강사명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직책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의 강의 진행에 대해 전반적으로 만족하십니까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1275992"/>
                  </a:ext>
                </a:extLst>
              </a:tr>
              <a:tr h="531272"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500" kern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6. [</a:t>
                      </a:r>
                      <a:r>
                        <a:rPr lang="ko-KR" altLang="en-US" sz="1200" b="0" kern="0" spc="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강사명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직책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는 교육 내용에 대해 전문적인 지식을 갖추고 교육을 진행하였습니까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?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6853497"/>
                  </a:ext>
                </a:extLst>
              </a:tr>
              <a:tr h="531272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교육 운영</a:t>
                      </a:r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500" kern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7.  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교육 장소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사전 안내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과정 운영 등 전반적인 교육 운영은 만족스러우셨습니까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9587526"/>
                  </a:ext>
                </a:extLst>
              </a:tr>
              <a:tr h="531272">
                <a:tc rowSpan="2"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주관식</a:t>
                      </a:r>
                      <a:r>
                        <a:rPr lang="en-US" altLang="ko-KR" sz="1500" kern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500" kern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8. 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본 교육 과정의 좋았던 점에 대해 작성해주십시오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8250464"/>
                  </a:ext>
                </a:extLst>
              </a:tr>
              <a:tr h="531272">
                <a:tc vMerge="1">
                  <a:txBody>
                    <a:bodyPr/>
                    <a:lstStyle/>
                    <a:p>
                      <a:pPr lvl="0" algn="ctr" latinLnBrk="1"/>
                      <a:endParaRPr lang="ko-KR" altLang="en-US" sz="1500" kern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9. </a:t>
                      </a:r>
                      <a:r>
                        <a:rPr lang="ko-KR" altLang="en-US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본 교육 과정의 아쉬웠던 점에 대해 작성해주십시오</a:t>
                      </a:r>
                      <a:r>
                        <a:rPr lang="en-US" altLang="ko-KR" sz="1200" b="0" kern="0" spc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565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831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689F-E809-6F5C-BCA5-1D974F42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C96C2E4-F85B-7C4A-6CA0-AA5AD133A8FE}"/>
              </a:ext>
            </a:extLst>
          </p:cNvPr>
          <p:cNvSpPr txBox="1"/>
          <p:nvPr/>
        </p:nvSpPr>
        <p:spPr>
          <a:xfrm>
            <a:off x="194825" y="319237"/>
            <a:ext cx="31486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객관식 설문 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B3E05D-D534-3735-9FD3-089EC17F7B8A}"/>
              </a:ext>
            </a:extLst>
          </p:cNvPr>
          <p:cNvSpPr/>
          <p:nvPr/>
        </p:nvSpPr>
        <p:spPr>
          <a:xfrm flipV="1">
            <a:off x="3343443" y="659874"/>
            <a:ext cx="884855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555121-7139-D3BE-6E84-CC65E20FC24E}"/>
              </a:ext>
            </a:extLst>
          </p:cNvPr>
          <p:cNvSpPr txBox="1"/>
          <p:nvPr/>
        </p:nvSpPr>
        <p:spPr>
          <a:xfrm>
            <a:off x="10739499" y="252835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29643-0EEA-8E71-C298-92EEECCC97E5}"/>
              </a:ext>
            </a:extLst>
          </p:cNvPr>
          <p:cNvSpPr txBox="1"/>
          <p:nvPr/>
        </p:nvSpPr>
        <p:spPr>
          <a:xfrm>
            <a:off x="859983" y="808948"/>
            <a:ext cx="6096000" cy="707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■ 만족도 요약 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-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수강인원 총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[0]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 중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[0]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 응답 ｜ </a:t>
            </a:r>
            <a:r>
              <a:rPr lang="ko-KR" altLang="en-US" sz="14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응답률 </a:t>
            </a:r>
            <a:r>
              <a:rPr lang="en-US" altLang="ko-KR" sz="14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[00]%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FA283912-486F-EF33-6E0D-6D1D21A2F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4988183"/>
              </p:ext>
            </p:extLst>
          </p:nvPr>
        </p:nvGraphicFramePr>
        <p:xfrm>
          <a:off x="859983" y="1583274"/>
          <a:ext cx="10981035" cy="4896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6902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7E5-2F5B-5656-250A-F53714B8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7D094A4-C106-8AAC-278E-6423F7FC9B27}"/>
              </a:ext>
            </a:extLst>
          </p:cNvPr>
          <p:cNvSpPr txBox="1"/>
          <p:nvPr/>
        </p:nvSpPr>
        <p:spPr>
          <a:xfrm>
            <a:off x="751048" y="1080613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■ 전반적 만족도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본 교육에 전반적으로 만족하십니까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6C2E4-F85B-7C4A-6CA0-AA5AD133A8FE}"/>
              </a:ext>
            </a:extLst>
          </p:cNvPr>
          <p:cNvSpPr txBox="1"/>
          <p:nvPr/>
        </p:nvSpPr>
        <p:spPr>
          <a:xfrm>
            <a:off x="194825" y="319237"/>
            <a:ext cx="31486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객관식 설문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3E05D-D534-3735-9FD3-089EC17F7B8A}"/>
              </a:ext>
            </a:extLst>
          </p:cNvPr>
          <p:cNvSpPr/>
          <p:nvPr/>
        </p:nvSpPr>
        <p:spPr>
          <a:xfrm flipV="1">
            <a:off x="3343443" y="659874"/>
            <a:ext cx="884855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55121-7139-D3BE-6E84-CC65E20FC24E}"/>
              </a:ext>
            </a:extLst>
          </p:cNvPr>
          <p:cNvSpPr txBox="1"/>
          <p:nvPr/>
        </p:nvSpPr>
        <p:spPr>
          <a:xfrm>
            <a:off x="10739499" y="252835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1651820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3941551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4660427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A16698F6-2514-E09D-2DD0-2BBDF7780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7783129"/>
              </p:ext>
            </p:extLst>
          </p:nvPr>
        </p:nvGraphicFramePr>
        <p:xfrm>
          <a:off x="485678" y="1548498"/>
          <a:ext cx="11401425" cy="4675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22468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7E5-2F5B-5656-250A-F53714B8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7D094A4-C106-8AAC-278E-6423F7FC9B27}"/>
              </a:ext>
            </a:extLst>
          </p:cNvPr>
          <p:cNvSpPr txBox="1"/>
          <p:nvPr/>
        </p:nvSpPr>
        <p:spPr>
          <a:xfrm>
            <a:off x="751048" y="1080613"/>
            <a:ext cx="609600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■ 추천도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본 교육을 동료에게 추천하시겠습니까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1647587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3941551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4660427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6C2E4-F85B-7C4A-6CA0-AA5AD133A8FE}"/>
              </a:ext>
            </a:extLst>
          </p:cNvPr>
          <p:cNvSpPr txBox="1"/>
          <p:nvPr/>
        </p:nvSpPr>
        <p:spPr>
          <a:xfrm>
            <a:off x="194825" y="319237"/>
            <a:ext cx="31486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객관식 설문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3E05D-D534-3735-9FD3-089EC17F7B8A}"/>
              </a:ext>
            </a:extLst>
          </p:cNvPr>
          <p:cNvSpPr/>
          <p:nvPr/>
        </p:nvSpPr>
        <p:spPr>
          <a:xfrm flipV="1">
            <a:off x="3343443" y="659874"/>
            <a:ext cx="884855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55121-7139-D3BE-6E84-CC65E20FC24E}"/>
              </a:ext>
            </a:extLst>
          </p:cNvPr>
          <p:cNvSpPr txBox="1"/>
          <p:nvPr/>
        </p:nvSpPr>
        <p:spPr>
          <a:xfrm>
            <a:off x="10739499" y="252835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A16698F6-2514-E09D-2DD0-2BBDF7780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128678"/>
              </p:ext>
            </p:extLst>
          </p:nvPr>
        </p:nvGraphicFramePr>
        <p:xfrm>
          <a:off x="485678" y="1548498"/>
          <a:ext cx="11401425" cy="4675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85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7E5-2F5B-5656-250A-F53714B8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7D094A4-C106-8AAC-278E-6423F7FC9B27}"/>
              </a:ext>
            </a:extLst>
          </p:cNvPr>
          <p:cNvSpPr txBox="1"/>
          <p:nvPr/>
        </p:nvSpPr>
        <p:spPr>
          <a:xfrm>
            <a:off x="751048" y="1080613"/>
            <a:ext cx="6758116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■ 교육 일정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본 교육의 교육일정 및 시간은 적절하다고 생각하십니까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6C2E4-F85B-7C4A-6CA0-AA5AD133A8FE}"/>
              </a:ext>
            </a:extLst>
          </p:cNvPr>
          <p:cNvSpPr txBox="1"/>
          <p:nvPr/>
        </p:nvSpPr>
        <p:spPr>
          <a:xfrm>
            <a:off x="194825" y="319237"/>
            <a:ext cx="31486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객관식 설문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3E05D-D534-3735-9FD3-089EC17F7B8A}"/>
              </a:ext>
            </a:extLst>
          </p:cNvPr>
          <p:cNvSpPr/>
          <p:nvPr/>
        </p:nvSpPr>
        <p:spPr>
          <a:xfrm flipV="1">
            <a:off x="3343443" y="659874"/>
            <a:ext cx="884855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55121-7139-D3BE-6E84-CC65E20FC24E}"/>
              </a:ext>
            </a:extLst>
          </p:cNvPr>
          <p:cNvSpPr txBox="1"/>
          <p:nvPr/>
        </p:nvSpPr>
        <p:spPr>
          <a:xfrm>
            <a:off x="10739499" y="252835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1651820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3941551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4660427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A16698F6-2514-E09D-2DD0-2BBDF7780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8569174"/>
              </p:ext>
            </p:extLst>
          </p:nvPr>
        </p:nvGraphicFramePr>
        <p:xfrm>
          <a:off x="485678" y="1548498"/>
          <a:ext cx="11401425" cy="4675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1702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7E5-2F5B-5656-250A-F53714B8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7D094A4-C106-8AAC-278E-6423F7FC9B27}"/>
              </a:ext>
            </a:extLst>
          </p:cNvPr>
          <p:cNvSpPr txBox="1"/>
          <p:nvPr/>
        </p:nvSpPr>
        <p:spPr>
          <a:xfrm>
            <a:off x="751048" y="1080613"/>
            <a:ext cx="609600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■ 교육 난이도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본 교육의 난이도는 적절하다고 생각하십니까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6C2E4-F85B-7C4A-6CA0-AA5AD133A8FE}"/>
              </a:ext>
            </a:extLst>
          </p:cNvPr>
          <p:cNvSpPr txBox="1"/>
          <p:nvPr/>
        </p:nvSpPr>
        <p:spPr>
          <a:xfrm>
            <a:off x="194825" y="319237"/>
            <a:ext cx="31486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객관식 설문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3E05D-D534-3735-9FD3-089EC17F7B8A}"/>
              </a:ext>
            </a:extLst>
          </p:cNvPr>
          <p:cNvSpPr/>
          <p:nvPr/>
        </p:nvSpPr>
        <p:spPr>
          <a:xfrm flipV="1">
            <a:off x="3343443" y="659874"/>
            <a:ext cx="884855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55121-7139-D3BE-6E84-CC65E20FC24E}"/>
              </a:ext>
            </a:extLst>
          </p:cNvPr>
          <p:cNvSpPr txBox="1"/>
          <p:nvPr/>
        </p:nvSpPr>
        <p:spPr>
          <a:xfrm>
            <a:off x="10739499" y="252835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1651820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3941551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4660427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A16698F6-2514-E09D-2DD0-2BBDF7780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6756639"/>
              </p:ext>
            </p:extLst>
          </p:nvPr>
        </p:nvGraphicFramePr>
        <p:xfrm>
          <a:off x="485678" y="1548498"/>
          <a:ext cx="11401425" cy="4675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8049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7E5-2F5B-5656-250A-F53714B8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7D094A4-C106-8AAC-278E-6423F7FC9B27}"/>
              </a:ext>
            </a:extLst>
          </p:cNvPr>
          <p:cNvSpPr txBox="1"/>
          <p:nvPr/>
        </p:nvSpPr>
        <p:spPr>
          <a:xfrm>
            <a:off x="751047" y="1080613"/>
            <a:ext cx="7349243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■ 강사 만족도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5. [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강사명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+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직책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강의 진행에 대해 전반적으로 만족하십니까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1651820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3941551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4660427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6C2E4-F85B-7C4A-6CA0-AA5AD133A8FE}"/>
              </a:ext>
            </a:extLst>
          </p:cNvPr>
          <p:cNvSpPr txBox="1"/>
          <p:nvPr/>
        </p:nvSpPr>
        <p:spPr>
          <a:xfrm>
            <a:off x="194825" y="319237"/>
            <a:ext cx="31486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객관식 설문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3E05D-D534-3735-9FD3-089EC17F7B8A}"/>
              </a:ext>
            </a:extLst>
          </p:cNvPr>
          <p:cNvSpPr/>
          <p:nvPr/>
        </p:nvSpPr>
        <p:spPr>
          <a:xfrm flipV="1">
            <a:off x="3343443" y="659874"/>
            <a:ext cx="884855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55121-7139-D3BE-6E84-CC65E20FC24E}"/>
              </a:ext>
            </a:extLst>
          </p:cNvPr>
          <p:cNvSpPr txBox="1"/>
          <p:nvPr/>
        </p:nvSpPr>
        <p:spPr>
          <a:xfrm>
            <a:off x="10739499" y="252835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A16698F6-2514-E09D-2DD0-2BBDF7780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8569174"/>
              </p:ext>
            </p:extLst>
          </p:nvPr>
        </p:nvGraphicFramePr>
        <p:xfrm>
          <a:off x="485678" y="1548498"/>
          <a:ext cx="11401425" cy="4675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6886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7E5-2F5B-5656-250A-F53714B8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7D094A4-C106-8AAC-278E-6423F7FC9B27}"/>
              </a:ext>
            </a:extLst>
          </p:cNvPr>
          <p:cNvSpPr txBox="1"/>
          <p:nvPr/>
        </p:nvSpPr>
        <p:spPr>
          <a:xfrm>
            <a:off x="751046" y="1183245"/>
            <a:ext cx="9011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■ 강사 만족도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6. [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강사명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+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직책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교육 내용에 대해 전문적인 지식을 갖추고 교육을 진행하였습니까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1651820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3941551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4660427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6C2E4-F85B-7C4A-6CA0-AA5AD133A8FE}"/>
              </a:ext>
            </a:extLst>
          </p:cNvPr>
          <p:cNvSpPr txBox="1"/>
          <p:nvPr/>
        </p:nvSpPr>
        <p:spPr>
          <a:xfrm>
            <a:off x="194825" y="319237"/>
            <a:ext cx="31486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객관식 설문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3E05D-D534-3735-9FD3-089EC17F7B8A}"/>
              </a:ext>
            </a:extLst>
          </p:cNvPr>
          <p:cNvSpPr/>
          <p:nvPr/>
        </p:nvSpPr>
        <p:spPr>
          <a:xfrm flipV="1">
            <a:off x="3343443" y="659874"/>
            <a:ext cx="884855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55121-7139-D3BE-6E84-CC65E20FC24E}"/>
              </a:ext>
            </a:extLst>
          </p:cNvPr>
          <p:cNvSpPr txBox="1"/>
          <p:nvPr/>
        </p:nvSpPr>
        <p:spPr>
          <a:xfrm>
            <a:off x="10739499" y="252835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A16698F6-2514-E09D-2DD0-2BBDF7780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0113481"/>
              </p:ext>
            </p:extLst>
          </p:nvPr>
        </p:nvGraphicFramePr>
        <p:xfrm>
          <a:off x="485678" y="1548498"/>
          <a:ext cx="11401425" cy="4675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72246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7E5-2F5B-5656-250A-F53714B8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A16698F6-2514-E09D-2DD0-2BBDF7780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7053163"/>
              </p:ext>
            </p:extLst>
          </p:nvPr>
        </p:nvGraphicFramePr>
        <p:xfrm>
          <a:off x="485678" y="1548498"/>
          <a:ext cx="11401425" cy="4675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7D094A4-C106-8AAC-278E-6423F7FC9B27}"/>
              </a:ext>
            </a:extLst>
          </p:cNvPr>
          <p:cNvSpPr txBox="1"/>
          <p:nvPr/>
        </p:nvSpPr>
        <p:spPr>
          <a:xfrm>
            <a:off x="751047" y="1080613"/>
            <a:ext cx="1028191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■ 교육 운영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7.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교육 장소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사전 안내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과정 운영 등 전반적인 교육 운영은 만족스러우셨습니까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1651820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3941551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8AB0BF9B-DE80-611B-D5F2-FA5E1C775341}"/>
              </a:ext>
            </a:extLst>
          </p:cNvPr>
          <p:cNvSpPr txBox="1"/>
          <p:nvPr/>
        </p:nvSpPr>
        <p:spPr>
          <a:xfrm>
            <a:off x="1256460" y="4660427"/>
            <a:ext cx="465979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kern="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sym typeface="Arial"/>
              </a:rPr>
              <a:t>매우 그렇지 않다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6C2E4-F85B-7C4A-6CA0-AA5AD133A8FE}"/>
              </a:ext>
            </a:extLst>
          </p:cNvPr>
          <p:cNvSpPr txBox="1"/>
          <p:nvPr/>
        </p:nvSpPr>
        <p:spPr>
          <a:xfrm>
            <a:off x="194825" y="319237"/>
            <a:ext cx="31486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객관식 설문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3E05D-D534-3735-9FD3-089EC17F7B8A}"/>
              </a:ext>
            </a:extLst>
          </p:cNvPr>
          <p:cNvSpPr/>
          <p:nvPr/>
        </p:nvSpPr>
        <p:spPr>
          <a:xfrm flipV="1">
            <a:off x="3343443" y="659874"/>
            <a:ext cx="884855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55121-7139-D3BE-6E84-CC65E20FC24E}"/>
              </a:ext>
            </a:extLst>
          </p:cNvPr>
          <p:cNvSpPr txBox="1"/>
          <p:nvPr/>
        </p:nvSpPr>
        <p:spPr>
          <a:xfrm>
            <a:off x="10739499" y="252835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9723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7E5-2F5B-5656-250A-F53714B8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7D094A4-C106-8AAC-278E-6423F7FC9B27}"/>
              </a:ext>
            </a:extLst>
          </p:cNvPr>
          <p:cNvSpPr txBox="1"/>
          <p:nvPr/>
        </p:nvSpPr>
        <p:spPr>
          <a:xfrm>
            <a:off x="530914" y="1022279"/>
            <a:ext cx="881020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■ 좋았던 점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8.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본 교육 과정의 좋았던 점에 대해 작성해주십시오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6C2E4-F85B-7C4A-6CA0-AA5AD133A8FE}"/>
              </a:ext>
            </a:extLst>
          </p:cNvPr>
          <p:cNvSpPr txBox="1"/>
          <p:nvPr/>
        </p:nvSpPr>
        <p:spPr>
          <a:xfrm>
            <a:off x="194825" y="319237"/>
            <a:ext cx="31486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3)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주관식 설문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3E05D-D534-3735-9FD3-089EC17F7B8A}"/>
              </a:ext>
            </a:extLst>
          </p:cNvPr>
          <p:cNvSpPr/>
          <p:nvPr/>
        </p:nvSpPr>
        <p:spPr>
          <a:xfrm flipV="1">
            <a:off x="3343443" y="659874"/>
            <a:ext cx="884855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55121-7139-D3BE-6E84-CC65E20FC24E}"/>
              </a:ext>
            </a:extLst>
          </p:cNvPr>
          <p:cNvSpPr txBox="1"/>
          <p:nvPr/>
        </p:nvSpPr>
        <p:spPr>
          <a:xfrm>
            <a:off x="10739499" y="252835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0339" y="1428482"/>
            <a:ext cx="10699668" cy="3817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동선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소비 등 필요한 모든 데이터를 통해 만들어졌다는 </a:t>
            </a:r>
            <a:r>
              <a:rPr lang="ko-KR" altLang="en-US" sz="11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스타필드와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이제는 필요한 것을 사는 것이 아닌 사고 싶은걸 산다는 변화된 환경에 대해 어떻게 하면 적용 할 수 있을까 많은 것을 느낀 시간이었습니다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단순한 </a:t>
            </a:r>
            <a:r>
              <a:rPr lang="ko-KR" altLang="en-US" sz="11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마케팅이라고만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생각했던 분야였지만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실제로는 데이터 기반의 정교한 분석과 다양한 관점이 결합된 영역이라는 점에서 인식이 크게 바뀌었고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개인적으로도 매우 신선한 경험이었습니다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일반적인 사무공간이 아닌 현장에서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강의에서 배웠던 내용을 직접 눈으로 보고 경험하며 체감할 수 있었다는 점이 매우 인상적이었습니다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특히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축적된 빅데이터가 실제 산업에서 어떻게 활용되는지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b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그리고 이를 통해 어떤 전략적 의사결정이 이루어지는지를 확인할 수 있어 의미 있는 시간이었습니다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또한 </a:t>
            </a:r>
            <a:r>
              <a:rPr lang="ko-KR" altLang="en-US" sz="11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인사이트를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도출하는 과정에서 주관적인 정성적 판단보다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검증 가능한 정량적 자료가 얼마나 중요한지 다시 한번 깨닫게 되었습니다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스타필드라는 새로운 공간에서 교육을 </a:t>
            </a:r>
            <a:r>
              <a:rPr lang="ko-KR" altLang="en-US" sz="11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진행하다보니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재미 있었고 </a:t>
            </a:r>
            <a:r>
              <a:rPr lang="ko-KR" altLang="en-US" sz="11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스타필드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설계에 대한 데이터 분석과 같은 것들을 경험 할 수 있는 좋은 기회였습니다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현업 실무자의 생생한 경험과 이전 진행했던 프로젝트들에 대해서도 흥미롭고 즐겁게 들을 수 있어서 유익했습니다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특히 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＂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경험 디자인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＂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에 대해 매우 관심이 많아졌습니다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1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실제 현장을 둘러보면서 강의내용을 확인할 수 있어서 체험적인 사항이 좋았습니다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en-US" sz="11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설명을 듣고 직접 눈으로 볼 수 있는 강의여서 너무 신선하고 좋았습니다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어느 교육보다 재미있고 흥미로웠으며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다양한 데이터를 기반으로 고객의 행동과 흐름까지 고려해 공간을 설계한다는 점이 특히 인상적이었습니다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데이터를 통해 공간이 구성된다는 점에서 활용 가치와 필요성을 느낄 수 있었습니다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기존의 업무 내용 및 방식과 상이한 새로운 인사이트를 얻을 수 있었습니다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endParaRPr lang="en-US" altLang="ko-KR" sz="11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[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주관식 결과 나열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338" y="5727647"/>
            <a:ext cx="10485529" cy="512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투어를 하면서 설명을 듣다 보니 주변 상황때문에 집중이 잘 안되는 점은 조금 아쉬웠습니다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아쉬웠던 점 보다는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교육장소가 다소 협소해서 더웠습니다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D094A4-C106-8AAC-278E-6423F7FC9B27}"/>
              </a:ext>
            </a:extLst>
          </p:cNvPr>
          <p:cNvSpPr txBox="1"/>
          <p:nvPr/>
        </p:nvSpPr>
        <p:spPr>
          <a:xfrm>
            <a:off x="530914" y="5315253"/>
            <a:ext cx="881020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■ 아쉬웠던 점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9.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본 교육 과정의 아쉬웠던 점에 대해 작성해주십시오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4004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7E5-2F5B-5656-250A-F53714B8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7D094A4-C106-8AAC-278E-6423F7FC9B27}"/>
              </a:ext>
            </a:extLst>
          </p:cNvPr>
          <p:cNvSpPr txBox="1"/>
          <p:nvPr/>
        </p:nvSpPr>
        <p:spPr>
          <a:xfrm>
            <a:off x="1071242" y="2996551"/>
            <a:ext cx="8810203" cy="707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사진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1P, 6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 삽입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추후 삽입 예정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6C2E4-F85B-7C4A-6CA0-AA5AD133A8FE}"/>
              </a:ext>
            </a:extLst>
          </p:cNvPr>
          <p:cNvSpPr txBox="1"/>
          <p:nvPr/>
        </p:nvSpPr>
        <p:spPr>
          <a:xfrm>
            <a:off x="194825" y="319237"/>
            <a:ext cx="206498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</a:t>
            </a:r>
            <a:r>
              <a:rPr lang="ko-KR" altLang="en-US" sz="3000" dirty="0">
                <a:solidFill>
                  <a:srgbClr val="E47325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현장 사진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B3E05D-D534-3735-9FD3-089EC17F7B8A}"/>
              </a:ext>
            </a:extLst>
          </p:cNvPr>
          <p:cNvSpPr/>
          <p:nvPr/>
        </p:nvSpPr>
        <p:spPr>
          <a:xfrm flipV="1">
            <a:off x="3343443" y="659874"/>
            <a:ext cx="884855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3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55121-7139-D3BE-6E84-CC65E20FC24E}"/>
              </a:ext>
            </a:extLst>
          </p:cNvPr>
          <p:cNvSpPr txBox="1"/>
          <p:nvPr/>
        </p:nvSpPr>
        <p:spPr>
          <a:xfrm>
            <a:off x="10739499" y="252835"/>
            <a:ext cx="1381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만족도 통계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F9112B-C853-DEAC-C77B-CC3AF3A8D2A5}"/>
              </a:ext>
            </a:extLst>
          </p:cNvPr>
          <p:cNvSpPr txBox="1"/>
          <p:nvPr/>
        </p:nvSpPr>
        <p:spPr>
          <a:xfrm>
            <a:off x="10275238" y="288944"/>
            <a:ext cx="464260" cy="323165"/>
          </a:xfrm>
          <a:prstGeom prst="rect">
            <a:avLst/>
          </a:prstGeom>
          <a:solidFill>
            <a:schemeClr val="accent2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02</a:t>
            </a:r>
            <a:endParaRPr lang="ko-KR" altLang="en-US" sz="15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7544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57CD7-3F36-3829-39E7-CFDD0073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F2517F-74DD-7825-E0E8-1958F7FEDAED}"/>
              </a:ext>
            </a:extLst>
          </p:cNvPr>
          <p:cNvSpPr/>
          <p:nvPr/>
        </p:nvSpPr>
        <p:spPr>
          <a:xfrm>
            <a:off x="2" y="0"/>
            <a:ext cx="5618375" cy="6883923"/>
          </a:xfrm>
          <a:prstGeom prst="rect">
            <a:avLst/>
          </a:prstGeom>
          <a:solidFill>
            <a:schemeClr val="bg1">
              <a:lumMod val="8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 descr="클립아트, 스크린샷, 만화 영화, 일러스트레이션이(가) 표시된 사진&#10;&#10;자동 생성된 설명">
            <a:extLst>
              <a:ext uri="{FF2B5EF4-FFF2-40B4-BE49-F238E27FC236}">
                <a16:creationId xmlns:a16="http://schemas.microsoft.com/office/drawing/2014/main" id="{478A3468-EFA8-C302-743A-BAC73905F6A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257" y="-194190"/>
            <a:ext cx="5189411" cy="70418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20DBA9D-08AE-89E7-BBFE-09471D4817CF}"/>
              </a:ext>
            </a:extLst>
          </p:cNvPr>
          <p:cNvSpPr txBox="1"/>
          <p:nvPr/>
        </p:nvSpPr>
        <p:spPr>
          <a:xfrm>
            <a:off x="8292823" y="2155449"/>
            <a:ext cx="37369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dirty="0">
                <a:solidFill>
                  <a:srgbClr val="E9713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THANK YOU</a:t>
            </a:r>
            <a:endParaRPr lang="ko-KR" altLang="en-US" sz="5000" dirty="0">
              <a:solidFill>
                <a:srgbClr val="E9713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29A678-87B2-A320-C88D-F6447ABA2CC4}"/>
              </a:ext>
            </a:extLst>
          </p:cNvPr>
          <p:cNvSpPr/>
          <p:nvPr/>
        </p:nvSpPr>
        <p:spPr>
          <a:xfrm>
            <a:off x="8220075" y="2950549"/>
            <a:ext cx="3704892" cy="66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E41ED-E6A6-0BE5-5FE2-4D380D3E3EE5}"/>
              </a:ext>
            </a:extLst>
          </p:cNvPr>
          <p:cNvSpPr txBox="1"/>
          <p:nvPr/>
        </p:nvSpPr>
        <p:spPr>
          <a:xfrm>
            <a:off x="10443614" y="3036273"/>
            <a:ext cx="15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2">
                    <a:lumMod val="2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6847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1417</TotalTime>
  <Words>775</Words>
  <Application>Microsoft Office PowerPoint</Application>
  <PresentationFormat>와이드스크린</PresentationFormat>
  <Paragraphs>147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나눔고딕</vt:lpstr>
      <vt:lpstr>Arial</vt:lpstr>
      <vt:lpstr>나눔스퀘어 ExtraBold</vt:lpstr>
      <vt:lpstr>나눔스퀘어 네오 Heavy</vt:lpstr>
      <vt:lpstr>맑은 고딕</vt:lpstr>
      <vt:lpstr>나눔스퀘어_ac Bold</vt:lpstr>
      <vt:lpstr>나눔스퀘어_ac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현아 김</dc:creator>
  <cp:lastModifiedBy>MULTICAMPUS</cp:lastModifiedBy>
  <cp:revision>81</cp:revision>
  <dcterms:created xsi:type="dcterms:W3CDTF">2024-10-09T05:47:20Z</dcterms:created>
  <dcterms:modified xsi:type="dcterms:W3CDTF">2026-07-14T06:50:02Z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